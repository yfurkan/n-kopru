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12192000" cy="6858000"/>
  <p:notesSz cx="6858000" cy="9144000"/>
  <p:defaultTextStyle>
    <a:defPPr>
      <a:defRPr lang="tr-TR" sz="140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>
    <p:cSldView/>
  </p:slideViewPr>
  <p:notesTextViewPr/>
  <p:gridSpacing cx="914400" cy="914400"/>
</p:viewPr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8156448" y="0"/><a:ext cx="4032504" cy="6858000"/></a:xfrm><a:prstGeom prst="rect"><a:avLst/></a:prstGeom><a:solidFill><a:srgbClr val="1D294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Shape 3"/><p:cNvSpPr/><p:nvPr/></p:nvSpPr><p:spPr><a:xfrm><a:off x="8156448" y="0"/><a:ext cx="64008" cy="6858000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" name="Text 4"/><p:cNvSpPr txBox="1"/><p:nvPr/></p:nvSpPr><p:spPr><a:xfrm><a:off x="694944" y="594360"/><a:ext cx="7223760" cy="256032"/></a:xfrm><a:prstGeom prst="rect"><a:avLst/></a:prstGeom><a:noFill/><a:ln><a:noFill/></a:ln></p:spPr><p:txBody><a:bodyPr wrap="square" anchor="t" lIns="0" rIns="0" tIns="0" bIns="0"/><a:lstStyle/><a:p><a:pPr/><a:r><a:rPr lang="tr-TR" sz="980" b="1"><a:solidFill><a:srgbClr val="22D3EE"/></a:solidFill><a:latin typeface="Aptos"/><a:t>TEKNOFEST 2026 · N’Sosyal İnovasyon Yarışması · Finalist</a:t></a:r><a:endParaRPr lang="tr-TR" sz="980"/></a:p></p:txBody></p:sp><p:sp><p:nvSpPr><p:cNvPr id="5" name="Text 5"/><p:cNvSpPr txBox="1"/><p:nvPr/></p:nvSpPr><p:spPr><a:xfrm><a:off x="694944" y="1170432"/><a:ext cx="6949440" cy="749808"/></a:xfrm><a:prstGeom prst="rect"><a:avLst/></a:prstGeom><a:noFill/><a:ln><a:noFill/></a:ln></p:spPr><p:txBody><a:bodyPr wrap="square" anchor="t" lIns="0" rIns="0" tIns="0" bIns="0"/><a:lstStyle/><a:p><a:pPr/><a:r><a:rPr lang="tr-TR" sz="3900" b="1"><a:solidFill><a:srgbClr val="F8FAFC"/></a:solidFill><a:latin typeface="Aptos"/><a:t>N-KÖPRÜ</a:t></a:r><a:endParaRPr lang="tr-TR" sz="3900"/></a:p></p:txBody></p:sp><p:sp><p:nvSpPr><p:cNvPr id="6" name="Text 6"/><p:cNvSpPr txBox="1"/><p:nvPr/></p:nvSpPr><p:spPr><a:xfrm><a:off x="713232" y="2103120"/><a:ext cx="6583680" cy="822960"/></a:xfrm><a:prstGeom prst="rect"><a:avLst/></a:prstGeom><a:noFill/><a:ln><a:noFill/></a:ln></p:spPr><p:txBody><a:bodyPr wrap="square" anchor="t" lIns="0" rIns="0" tIns="0" bIns="0"/><a:lstStyle/><a:p><a:pPr/><a:r><a:rPr lang="tr-TR" sz="1900"><a:solidFill><a:srgbClr val="A7B0C4"/></a:solidFill><a:latin typeface="Aptos"/><a:t>Yapay Zekâ Destekli Sosyal Tartışma Zekâsı Sistemi</a:t></a:r><a:endParaRPr lang="tr-TR" sz="1900"/></a:p></p:txBody></p:sp><p:sp><p:nvSpPr><p:cNvPr id="7" name="Text 7"/><p:cNvSpPr txBox="1"/><p:nvPr/></p:nvSpPr><p:spPr><a:xfrm><a:off x="713232" y="3675888"/><a:ext cx="6583680" cy="274320"/></a:xfrm><a:prstGeom prst="rect"><a:avLst/></a:prstGeom><a:noFill/><a:ln><a:noFill/></a:ln></p:spPr><p:txBody><a:bodyPr wrap="square" anchor="t" lIns="0" rIns="0" tIns="0" bIns="0"/><a:lstStyle/><a:p><a:pPr/><a:r><a:rPr lang="tr-TR" sz="1240" b="1"><a:solidFill><a:srgbClr val="34D399"/></a:solidFill><a:latin typeface="Aptos"/><a:t>Çalışan prototip · teknik rapor 98/100 · Mavi Fab.Lab.</a:t></a:r><a:endParaRPr lang="tr-TR" sz="1240"/></a:p></p:txBody></p:sp><p:sp><p:nvSpPr><p:cNvPr id="8" name="Shape 8"/><p:cNvSpPr/><p:nvPr/></p:nvSpPr><p:spPr><a:xfrm><a:off x="8641080" y="950976"/><a:ext cx="2971800" cy="1225296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9" name="Shape 9"/><p:cNvSpPr/><p:nvPr/></p:nvSpPr><p:spPr><a:xfrm><a:off x="8641080" y="950976"/><a:ext cx="50292" cy="1225296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0" name="Text 10"/><p:cNvSpPr txBox="1"/><p:nvPr/></p:nvSpPr><p:spPr><a:xfrm><a:off x="8805672" y="1060704"/><a:ext cx="2697480" cy="274320"/></a:xfrm><a:prstGeom prst="rect"><a:avLst/></a:prstGeom><a:noFill/><a:ln><a:noFill/></a:ln></p:spPr><p:txBody><a:bodyPr wrap="square" anchor="t" lIns="0" rIns="0" tIns="0" bIns="0"/><a:lstStyle/><a:p><a:pPr/><a:r><a:rPr lang="tr-TR" sz="1180" b="1"><a:solidFill><a:srgbClr val="FB7185"/></a:solidFill><a:latin typeface="Aptos"/><a:t>PROBLEM</a:t></a:r><a:endParaRPr lang="tr-TR" sz="1180"/></a:p></p:txBody></p:sp><p:sp><p:nvSpPr><p:cNvPr id="11" name="Text 11"/><p:cNvSpPr txBox="1"/><p:nvPr/></p:nvSpPr><p:spPr><a:xfrm><a:off x="8805672" y="1408176"/><a:ext cx="2697480" cy="676656"/></a:xfrm><a:prstGeom prst="rect"><a:avLst/></a:prstGeom><a:noFill/><a:ln><a:noFill/></a:ln></p:spPr><p:txBody><a:bodyPr wrap="square" anchor="t" lIns="0" rIns="0" tIns="0" bIns="0"/><a:lstStyle/><a:p><a:pPr/><a:r><a:rPr lang="tr-TR" sz="1070"><a:solidFill><a:srgbClr val="F8FAFC"/></a:solidFill><a:latin typeface="Aptos"/><a:t>Tartışmada bağlam ve kanıt ihtiyacı kayboluyor.</a:t></a:r><a:endParaRPr lang="tr-TR" sz="1070"/></a:p></p:txBody></p:sp><p:sp><p:nvSpPr><p:cNvPr id="12" name="Shape 12"/><p:cNvSpPr/><p:nvPr/></p:nvSpPr><p:spPr><a:xfrm><a:off x="8641080" y="2523744"/><a:ext cx="2971800" cy="1225296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3" name="Shape 13"/><p:cNvSpPr/><p:nvPr/></p:nvSpPr><p:spPr><a:xfrm><a:off x="8641080" y="2523744"/><a:ext cx="50292" cy="1225296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4" name="Text 14"/><p:cNvSpPr txBox="1"/><p:nvPr/></p:nvSpPr><p:spPr><a:xfrm><a:off x="8805672" y="2633472"/><a:ext cx="2697480" cy="274320"/></a:xfrm><a:prstGeom prst="rect"><a:avLst/></a:prstGeom><a:noFill/><a:ln><a:noFill/></a:ln></p:spPr><p:txBody><a:bodyPr wrap="square" anchor="t" lIns="0" rIns="0" tIns="0" bIns="0"/><a:lstStyle/><a:p><a:pPr/><a:r><a:rPr lang="tr-TR" sz="1180" b="1"><a:solidFill><a:srgbClr val="22D3EE"/></a:solidFill><a:latin typeface="Aptos"/><a:t>ÇÖZÜM</a:t></a:r><a:endParaRPr lang="tr-TR" sz="1180"/></a:p></p:txBody></p:sp><p:sp><p:nvSpPr><p:cNvPr id="15" name="Text 15"/><p:cNvSpPr txBox="1"/><p:nvPr/></p:nvSpPr><p:spPr><a:xfrm><a:off x="8805672" y="2980944"/><a:ext cx="2697480" cy="676656"/></a:xfrm><a:prstGeom prst="rect"><a:avLst/></a:prstGeom><a:noFill/><a:ln><a:noFill/></a:ln></p:spPr><p:txBody><a:bodyPr wrap="square" anchor="t" lIns="0" rIns="0" tIns="0" bIns="0"/><a:lstStyle/><a:p><a:pPr/><a:r><a:rPr lang="tr-TR" sz="1070"><a:solidFill><a:srgbClr val="F8FAFC"/></a:solidFill><a:latin typeface="Aptos"/><a:t>Sekiz modülle tartışmayı bilgi haritasına dönüştürüyor.</a:t></a:r><a:endParaRPr lang="tr-TR" sz="1070"/></a:p></p:txBody></p:sp><p:sp><p:nvSpPr><p:cNvPr id="16" name="Shape 16"/><p:cNvSpPr/><p:nvPr/></p:nvSpPr><p:spPr><a:xfrm><a:off x="8641080" y="4096512"/><a:ext cx="2971800" cy="1225296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7" name="Shape 17"/><p:cNvSpPr/><p:nvPr/></p:nvSpPr><p:spPr><a:xfrm><a:off x="8641080" y="4096512"/><a:ext cx="50292" cy="1225296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8" name="Text 18"/><p:cNvSpPr txBox="1"/><p:nvPr/></p:nvSpPr><p:spPr><a:xfrm><a:off x="8805672" y="4206240"/><a:ext cx="2697480" cy="274320"/></a:xfrm><a:prstGeom prst="rect"><a:avLst/></a:prstGeom><a:noFill/><a:ln><a:noFill/></a:ln></p:spPr><p:txBody><a:bodyPr wrap="square" anchor="t" lIns="0" rIns="0" tIns="0" bIns="0"/><a:lstStyle/><a:p><a:pPr/><a:r><a:rPr lang="tr-TR" sz="1180" b="1"><a:solidFill><a:srgbClr val="34D399"/></a:solidFill><a:latin typeface="Aptos"/><a:t>KANIT</a:t></a:r><a:endParaRPr lang="tr-TR" sz="1180"/></a:p></p:txBody></p:sp><p:sp><p:nvSpPr><p:cNvPr id="19" name="Text 19"/><p:cNvSpPr txBox="1"/><p:nvPr/></p:nvSpPr><p:spPr><a:xfrm><a:off x="8805672" y="4553712"/><a:ext cx="2697480" cy="676656"/></a:xfrm><a:prstGeom prst="rect"><a:avLst/></a:prstGeom><a:noFill/><a:ln><a:noFill/></a:ln></p:spPr><p:txBody><a:bodyPr wrap="square" anchor="t" lIns="0" rIns="0" tIns="0" bIns="0"/><a:lstStyle/><a:p><a:pPr/><a:r><a:rPr lang="tr-TR" sz="1070"><a:solidFill><a:srgbClr val="F8FAFC"/></a:solidFill><a:latin typeface="Aptos"/><a:t>74/80 doğru · %92,5 · 808/808 test.</a:t></a:r><a:endParaRPr lang="tr-TR" sz="1070"/></a:p></p:txBody></p:sp><p:sp><p:nvSpPr><p:cNvPr id="20" name="Text 20"/><p:cNvSpPr txBox="1"/><p:nvPr/></p:nvSpPr><p:spPr><a:xfrm><a:off x="713232" y="6089904"/><a:ext cx="7315200" cy="201168"/></a:xfrm><a:prstGeom prst="rect"><a:avLst/></a:prstGeom><a:noFill/><a:ln><a:noFill/></a:ln></p:spPr><p:txBody><a:bodyPr wrap="square" anchor="t" lIns="0" rIns="0" tIns="0" bIns="0"/><a:lstStyle/><a:p><a:pPr/><a:r><a:rPr lang="tr-TR" sz="970"><a:solidFill><a:srgbClr val="6B7895"/></a:solidFill><a:latin typeface="Aptos"/><a:t>Jüri teknik sunumu · tam metin + prototip + ölçüm + sınır</a:t></a:r><a:endParaRPr lang="tr-TR" sz="970"/></a:p></p:txBody></p:sp><p:sp><p:nvSpPr><p:cNvPr id="21" name="Text 21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2" name="Text 22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01</a:t></a:r><a:endParaRPr lang="tr-TR" sz="820"/></a:p></p:txBody></p:sp></p:spTree></p:cSld><p:clrMapOvr><a:masterClrMapping/></p:clrMapOvr></p:sld>
</file>

<file path=ppt/slides/slide2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Jürinin 90 saniyede bilmesi gerekenler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Değerlendirmeyi üç soruya ayırıyoruz: hangi problem, çalışan hangi çözüm, hangi kanıt?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Problem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Uzun tartışmalarda bağlam, görüş, iddia, kanıt ihtiyacı ve cevapsız sorular birbirine karışıyor. Kullanıcı çoğu zaman karşı görüşü anlamadan cevap veriyor.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Çözüm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N-KÖPRÜ tartışmayı sekiz adımda bilgi haritasına dönüştürüyor: görüşleri, ortak zemini, iddiaları, soruları, değişiklikleri ve yapıcı yanıtı görünür kılıyor.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Kanıt ve sınır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80 proje içi elle etiketli örnekte 74/80 doğru ve %92,5 doğruluk/Macro-F1; v1.4.0 regresyonunda 808/808 test başarılı. Bu sonuçlar dış benchmark veya kullanıcı etkisi değildir.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Ne değil?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Otomatik hakem, sansür filtresi veya doğruluk/fact-checking motoru değildir. Model güveni, iddianın doğru olduğu anlamına gelmez.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02</a:t></a:r><a:endParaRPr lang="tr-TR" sz="820"/></a:p></p:txBody></p:sp></p:spTree></p:cSld><p:clrMapOvr><a:masterClrMapping/></p:clrMapOvr></p:sld>
</file>

<file path=ppt/slides/slide3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Problemi tarif ediyoruz: tartışma metni karar verilebilir bilgiye dönüşmüyor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Tartışmanın hacmi arttıkça içerik değil, içerik arasındaki ilişki kayboluyor.</a:t></a:r><a:endParaRPr lang="tr-TR" sz="1020"/></a:p></p:txBody></p:sp><p:sp><p:nvSpPr><p:cNvPr id="6" name="Shape 6"/><p:cNvSpPr/><p:nvPr/></p:nvSpPr><p:spPr><a:xfrm><a:off x="566928" y="1572768"/><a:ext cx="3590544" cy="4224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4224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240" b="1"><a:solidFill><a:srgbClr val="22D3EE"/></a:solidFill><a:latin typeface="Aptos"/><a:t>Girdi</a:t></a:r><a:endParaRPr lang="tr-TR" sz="1240"/></a:p></p:txBody></p:sp><p:sp><p:nvSpPr><p:cNvPr id="9" name="Text 9"/><p:cNvSpPr txBox="1"/><p:nvPr/></p:nvSpPr><p:spPr><a:xfrm><a:off x="731520" y="2029968"/><a:ext cx="3316224" cy="3675888"/></a:xfrm><a:prstGeom prst="rect"><a:avLst/></a:prstGeom><a:noFill/><a:ln><a:noFill/></a:ln></p:spPr><p:txBody><a:bodyPr wrap="square" anchor="t" lIns="0" rIns="0" tIns="0" bIns="0"/><a:lstStyle/><a:p><a:pPr/><a:r><a:rPr lang="tr-TR" sz="1180"><a:solidFill><a:srgbClr val="F8FAFC"/></a:solidFill><a:latin typeface="Aptos"/><a:t>Tekrarlanan yorumlar, karşıt görüşler, koşullu öneriler, kişisel saldırılar, sayısal iddialar ve soru biçimindeki katkılar aynı akışta ilerliyor.</a:t></a:r><a:endParaRPr lang="tr-TR" sz="1180"/></a:p></p:txBody></p:sp><p:sp><p:nvSpPr><p:cNvPr id="10" name="Shape 10"/><p:cNvSpPr/><p:nvPr/></p:nvSpPr><p:spPr><a:xfrm><a:off x="4303776" y="1572768"/><a:ext cx="3590544" cy="4224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4303776" y="1572768"/><a:ext cx="50292" cy="422452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4468368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240" b="1"><a:solidFill><a:srgbClr val="34D399"/></a:solidFill><a:latin typeface="Aptos"/><a:t>Kayıp</a:t></a:r><a:endParaRPr lang="tr-TR" sz="1240"/></a:p></p:txBody></p:sp><p:sp><p:nvSpPr><p:cNvPr id="13" name="Text 13"/><p:cNvSpPr txBox="1"/><p:nvPr/></p:nvSpPr><p:spPr><a:xfrm><a:off x="4468368" y="2029968"/><a:ext cx="3316224" cy="3675888"/></a:xfrm><a:prstGeom prst="rect"><a:avLst/></a:prstGeom><a:noFill/><a:ln><a:noFill/></a:ln></p:spPr><p:txBody><a:bodyPr wrap="square" anchor="t" lIns="0" rIns="0" tIns="0" bIns="0"/><a:lstStyle/><a:p><a:pPr/><a:r><a:rPr lang="tr-TR" sz="1180"><a:solidFill><a:srgbClr val="F8FAFC"/></a:solidFill><a:latin typeface="Aptos"/><a:t>Kim neyi destekliyor? Hangi gerekçeye dayanıyor? Hangi iddia kaynak istiyor? Hangi soru hâlâ cevapsız? Bu sorular kullanıcıya hazır bir harita olarak görünmüyor.</a:t></a:r><a:endParaRPr lang="tr-TR" sz="1180"/></a:p></p:txBody></p:sp><p:sp><p:nvSpPr><p:cNvPr id="14" name="Shape 14"/><p:cNvSpPr/><p:nvPr/></p:nvSpPr><p:spPr><a:xfrm><a:off x="8040624" y="1572768"/><a:ext cx="3590544" cy="4224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8040624" y="1572768"/><a:ext cx="50292" cy="4224528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8205216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240" b="1"><a:solidFill><a:srgbClr val="FBBF24"/></a:solidFill><a:latin typeface="Aptos"/><a:t>Sonuç</a:t></a:r><a:endParaRPr lang="tr-TR" sz="1240"/></a:p></p:txBody></p:sp><p:sp><p:nvSpPr><p:cNvPr id="17" name="Text 17"/><p:cNvSpPr txBox="1"/><p:nvPr/></p:nvSpPr><p:spPr><a:xfrm><a:off x="8205216" y="2029968"/><a:ext cx="3316224" cy="3675888"/></a:xfrm><a:prstGeom prst="rect"><a:avLst/></a:prstGeom><a:noFill/><a:ln><a:noFill/></a:ln></p:spPr><p:txBody><a:bodyPr wrap="square" anchor="t" lIns="0" rIns="0" tIns="0" bIns="0"/><a:lstStyle/><a:p><a:pPr/><a:r><a:rPr lang="tr-TR" sz="1180"><a:solidFill><a:srgbClr val="F8FAFC"/></a:solidFill><a:latin typeface="Aptos"/><a:t>Yanıtlar kişiye yöneliyor; aynı nokta tekrar tekrar tartışılıyor; kanıtsız iddialar ile gerçek görüşler ayırt edilemiyor; yapıcı bir sonraki adım üretilemiyor.</a:t></a:r><a:endParaRPr lang="tr-TR" sz="1180"/></a:p></p:txBody></p:sp><p:sp><p:nvSpPr><p:cNvPr id="18" name="Text 18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19" name="Text 19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03</a:t></a:r><a:endParaRPr lang="tr-TR" sz="820"/></a:p></p:txBody></p:sp></p:spTree></p:cSld><p:clrMapOvr><a:masterClrMapping/></p:clrMapOvr></p:sld>
</file>

<file path=ppt/slides/slide4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Neden klasik duygu analizi yetmez?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N-KÖPRÜ’nün çıktısı yalnızca olumlu/olumsuz etiketi değildir.</a:t></a:r><a:endParaRPr lang="tr-TR" sz="1020"/></a:p></p:txBody></p:sp><p:sp><p:nvSpPr><p:cNvPr id="6" name="Shape 6"/><p:cNvSpPr/><p:nvPr/></p:nvSpPr><p:spPr><a:xfrm><a:off x="566928" y="1572768"/><a:ext cx="3688080" cy="647700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Text 7"/><p:cNvSpPr txBox="1"/><p:nvPr/></p:nvSpPr><p:spPr><a:xfrm><a:off x="603504" y="1600200"/><a:ext cx="3614928" cy="592836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Boyut</a:t></a:r><a:endParaRPr lang="tr-TR" sz="1000"/></a:p></p:txBody></p:sp><p:sp><p:nvSpPr><p:cNvPr id="8" name="Shape 8"/><p:cNvSpPr/><p:nvPr/></p:nvSpPr><p:spPr><a:xfrm><a:off x="4255008" y="1572768"/><a:ext cx="3688080" cy="647700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9" name="Text 9"/><p:cNvSpPr txBox="1"/><p:nvPr/></p:nvSpPr><p:spPr><a:xfrm><a:off x="4291584" y="1600200"/><a:ext cx="3614928" cy="592836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Klasik duygu analizi</a:t></a:r><a:endParaRPr lang="tr-TR" sz="1000"/></a:p></p:txBody></p:sp><p:sp><p:nvSpPr><p:cNvPr id="10" name="Shape 10"/><p:cNvSpPr/><p:nvPr/></p:nvSpPr><p:spPr><a:xfrm><a:off x="7943088" y="1572768"/><a:ext cx="3688080" cy="647700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Text 11"/><p:cNvSpPr txBox="1"/><p:nvPr/></p:nvSpPr><p:spPr><a:xfrm><a:off x="7979664" y="1600200"/><a:ext cx="3614928" cy="592836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N-KÖPRÜ</a:t></a:r><a:endParaRPr lang="tr-TR" sz="1000"/></a:p></p:txBody></p:sp><p:sp><p:nvSpPr><p:cNvPr id="12" name="Shape 12"/><p:cNvSpPr/><p:nvPr/></p:nvSpPr><p:spPr><a:xfrm><a:off x="566928" y="2220468"/><a:ext cx="3688080" cy="64770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3" name="Text 13"/><p:cNvSpPr txBox="1"/><p:nvPr/></p:nvSpPr><p:spPr><a:xfrm><a:off x="603504" y="22479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Temel etiket</a:t></a:r><a:endParaRPr lang="tr-TR" sz="925"/></a:p></p:txBody></p:sp><p:sp><p:nvSpPr><p:cNvPr id="14" name="Shape 14"/><p:cNvSpPr/><p:nvPr/></p:nvSpPr><p:spPr><a:xfrm><a:off x="4255008" y="2220468"/><a:ext cx="3688080" cy="64770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Text 15"/><p:cNvSpPr txBox="1"/><p:nvPr/></p:nvSpPr><p:spPr><a:xfrm><a:off x="4291584" y="22479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Olumlu / olumsuz / nötr</a:t></a:r><a:endParaRPr lang="tr-TR" sz="925"/></a:p></p:txBody></p:sp><p:sp><p:nvSpPr><p:cNvPr id="16" name="Shape 16"/><p:cNvSpPr/><p:nvPr/></p:nvSpPr><p:spPr><a:xfrm><a:off x="7943088" y="2220468"/><a:ext cx="3688080" cy="64770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7" name="Text 17"/><p:cNvSpPr txBox="1"/><p:nvPr/></p:nvSpPr><p:spPr><a:xfrm><a:off x="7979664" y="22479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Destekleyen / karşı-sınırlayıcı / koşullu-dengeli / soru-tarafsız</a:t></a:r><a:endParaRPr lang="tr-TR" sz="925"/></a:p></p:txBody></p:sp><p:sp><p:nvSpPr><p:cNvPr id="18" name="Shape 18"/><p:cNvSpPr/><p:nvPr/></p:nvSpPr><p:spPr><a:xfrm><a:off x="566928" y="2868168"/><a:ext cx="3688080" cy="64770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Text 19"/><p:cNvSpPr txBox="1"/><p:nvPr/></p:nvSpPr><p:spPr><a:xfrm><a:off x="603504" y="28956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İçerik</a:t></a:r><a:endParaRPr lang="tr-TR" sz="925"/></a:p></p:txBody></p:sp><p:sp><p:nvSpPr><p:cNvPr id="20" name="Shape 20"/><p:cNvSpPr/><p:nvPr/></p:nvSpPr><p:spPr><a:xfrm><a:off x="4255008" y="2868168"/><a:ext cx="3688080" cy="64770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1" name="Text 21"/><p:cNvSpPr txBox="1"/><p:nvPr/></p:nvSpPr><p:spPr><a:xfrm><a:off x="4291584" y="28956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Duygusal ton</a:t></a:r><a:endParaRPr lang="tr-TR" sz="925"/></a:p></p:txBody></p:sp><p:sp><p:nvSpPr><p:cNvPr id="22" name="Shape 22"/><p:cNvSpPr/><p:nvPr/></p:nvSpPr><p:spPr><a:xfrm><a:off x="7943088" y="2868168"/><a:ext cx="3688080" cy="64770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Text 23"/><p:cNvSpPr txBox="1"/><p:nvPr/></p:nvSpPr><p:spPr><a:xfrm><a:off x="7979664" y="28956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Görüş, iddia, gerekçe ve kanıt ihtiyacı</a:t></a:r><a:endParaRPr lang="tr-TR" sz="925"/></a:p></p:txBody></p:sp><p:sp><p:nvSpPr><p:cNvPr id="24" name="Shape 24"/><p:cNvSpPr/><p:nvPr/></p:nvSpPr><p:spPr><a:xfrm><a:off x="566928" y="3515868"/><a:ext cx="3688080" cy="64770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5" name="Text 25"/><p:cNvSpPr txBox="1"/><p:nvPr/></p:nvSpPr><p:spPr><a:xfrm><a:off x="603504" y="35433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İlişki</a:t></a:r><a:endParaRPr lang="tr-TR" sz="925"/></a:p></p:txBody></p:sp><p:sp><p:nvSpPr><p:cNvPr id="26" name="Shape 26"/><p:cNvSpPr/><p:nvPr/></p:nvSpPr><p:spPr><a:xfrm><a:off x="4255008" y="3515868"/><a:ext cx="3688080" cy="64770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7" name="Text 27"/><p:cNvSpPr txBox="1"/><p:nvPr/></p:nvSpPr><p:spPr><a:xfrm><a:off x="4291584" y="35433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Yorumun tek başına skoru</a:t></a:r><a:endParaRPr lang="tr-TR" sz="925"/></a:p></p:txBody></p:sp><p:sp><p:nvSpPr><p:cNvPr id="28" name="Shape 28"/><p:cNvSpPr/><p:nvPr/></p:nvSpPr><p:spPr><a:xfrm><a:off x="7943088" y="3515868"/><a:ext cx="3688080" cy="64770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9" name="Text 29"/><p:cNvSpPr txBox="1"/><p:nvPr/></p:nvSpPr><p:spPr><a:xfrm><a:off x="7979664" y="35433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Görüş kümeleri, temsilci yorumlar ve karşıtlık ilişkileri</a:t></a:r><a:endParaRPr lang="tr-TR" sz="925"/></a:p></p:txBody></p:sp><p:sp><p:nvSpPr><p:cNvPr id="30" name="Shape 30"/><p:cNvSpPr/><p:nvPr/></p:nvSpPr><p:spPr><a:xfrm><a:off x="566928" y="4163568"/><a:ext cx="3688080" cy="64770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1" name="Text 31"/><p:cNvSpPr txBox="1"/><p:nvPr/></p:nvSpPr><p:spPr><a:xfrm><a:off x="603504" y="41910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Eylem</a:t></a:r><a:endParaRPr lang="tr-TR" sz="925"/></a:p></p:txBody></p:sp><p:sp><p:nvSpPr><p:cNvPr id="32" name="Shape 32"/><p:cNvSpPr/><p:nvPr/></p:nvSpPr><p:spPr><a:xfrm><a:off x="4255008" y="4163568"/><a:ext cx="3688080" cy="64770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3" name="Text 33"/><p:cNvSpPr txBox="1"/><p:nvPr/></p:nvSpPr><p:spPr><a:xfrm><a:off x="4291584" y="41910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Duyguya göre sınıflama</a:t></a:r><a:endParaRPr lang="tr-TR" sz="925"/></a:p></p:txBody></p:sp><p:sp><p:nvSpPr><p:cNvPr id="34" name="Shape 34"/><p:cNvSpPr/><p:nvPr/></p:nvSpPr><p:spPr><a:xfrm><a:off x="7943088" y="4163568"/><a:ext cx="3688080" cy="64770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5" name="Text 35"/><p:cNvSpPr txBox="1"/><p:nvPr/></p:nvSpPr><p:spPr><a:xfrm><a:off x="7979664" y="41910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Cevapsız soruyu bulma, Yanıt Koçu ve Köprü Oluştur</a:t></a:r><a:endParaRPr lang="tr-TR" sz="925"/></a:p></p:txBody></p:sp><p:sp><p:nvSpPr><p:cNvPr id="36" name="Shape 36"/><p:cNvSpPr/><p:nvPr/></p:nvSpPr><p:spPr><a:xfrm><a:off x="566928" y="4811268"/><a:ext cx="3688080" cy="64770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7" name="Text 37"/><p:cNvSpPr txBox="1"/><p:nvPr/></p:nvSpPr><p:spPr><a:xfrm><a:off x="603504" y="48387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Zaman</a:t></a:r><a:endParaRPr lang="tr-TR" sz="925"/></a:p></p:txBody></p:sp><p:sp><p:nvSpPr><p:cNvPr id="38" name="Shape 38"/><p:cNvSpPr/><p:nvPr/></p:nvSpPr><p:spPr><a:xfrm><a:off x="4255008" y="4811268"/><a:ext cx="3688080" cy="64770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9" name="Text 39"/><p:cNvSpPr txBox="1"/><p:nvPr/></p:nvSpPr><p:spPr><a:xfrm><a:off x="4291584" y="48387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Anlık metin</a:t></a:r><a:endParaRPr lang="tr-TR" sz="925"/></a:p></p:txBody></p:sp><p:sp><p:nvSpPr><p:cNvPr id="40" name="Shape 40"/><p:cNvSpPr/><p:nvPr/></p:nvSpPr><p:spPr><a:xfrm><a:off x="7943088" y="4811268"/><a:ext cx="3688080" cy="64770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1" name="Text 41"/><p:cNvSpPr txBox="1"/><p:nvPr/></p:nvSpPr><p:spPr><a:xfrm><a:off x="7979664" y="4838700"/><a:ext cx="3614928" cy="59283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Snapshot karşılaştırması ve anlamlı değişiklik bildirimi</a:t></a:r><a:endParaRPr lang="tr-TR" sz="925"/></a:p></p:txBody></p:sp><p:sp><p:nvSpPr><p:cNvPr id="42" name="Text 4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43" name="Text 4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04</a:t></a:r><a:endParaRPr lang="tr-TR" sz="820"/></a:p></p:txBody></p:sp></p:spTree></p:cSld><p:clrMapOvr><a:masterClrMapping/></p:clrMapOvr></p:sld>
</file>

<file path=ppt/slides/slide5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Hedef, kapsam ve sınır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Sistemin ne yaptığı kadar ne yapmadığını da tasarımın parçası kabul ediyoruz.</a:t></a:r><a:endParaRPr lang="tr-TR" sz="1020"/></a:p></p:txBody></p:sp><p:sp><p:nvSpPr><p:cNvPr id="6" name="Shape 6"/><p:cNvSpPr/><p:nvPr/></p:nvSpPr><p:spPr><a:xfrm><a:off x="566928" y="1572768"/><a:ext cx="3590544" cy="4224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4224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240" b="1"><a:solidFill><a:srgbClr val="22D3EE"/></a:solidFill><a:latin typeface="Aptos"/><a:t>Hedefler</a:t></a:r><a:endParaRPr lang="tr-TR" sz="1240"/></a:p></p:txBody></p:sp><p:sp><p:nvSpPr><p:cNvPr id="9" name="Text 9"/><p:cNvSpPr txBox="1"/><p:nvPr/></p:nvSpPr><p:spPr><a:xfrm><a:off x="731520" y="2029968"/><a:ext cx="3316224" cy="3675888"/></a:xfrm><a:prstGeom prst="rect"><a:avLst/></a:prstGeom><a:noFill/><a:ln><a:noFill/></a:ln></p:spPr><p:txBody><a:bodyPr wrap="square" anchor="t" lIns="0" rIns="0" tIns="0" bIns="0"/><a:lstStyle/><a:p><a:pPr/><a:r><a:rPr lang="tr-TR" sz="1180"><a:solidFill><a:srgbClr val="F8FAFC"/></a:solidFill><a:latin typeface="Aptos"/><a:t>Görüşleri ve dayanaklarını görünür kılmak; ortak zemini bulmak; doğrulama gerektiren iddiaları işaretlemek; cevapsız soruları önceliklendirmek; kişisel saldırıyı yapıcı bir mesaja dönüştürmek.</a:t></a:r><a:endParaRPr lang="tr-TR" sz="1180"/></a:p></p:txBody></p:sp><p:sp><p:nvSpPr><p:cNvPr id="10" name="Shape 10"/><p:cNvSpPr/><p:nvPr/></p:nvSpPr><p:spPr><a:xfrm><a:off x="4303776" y="1572768"/><a:ext cx="3590544" cy="4224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4303776" y="1572768"/><a:ext cx="50292" cy="422452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4468368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240" b="1"><a:solidFill><a:srgbClr val="34D399"/></a:solidFill><a:latin typeface="Aptos"/><a:t>Kapsam dışı</a:t></a:r><a:endParaRPr lang="tr-TR" sz="1240"/></a:p></p:txBody></p:sp><p:sp><p:nvSpPr><p:cNvPr id="13" name="Text 13"/><p:cNvSpPr txBox="1"/><p:nvPr/></p:nvSpPr><p:spPr><a:xfrm><a:off x="4468368" y="2029968"/><a:ext cx="3316224" cy="3675888"/></a:xfrm><a:prstGeom prst="rect"><a:avLst/></a:prstGeom><a:noFill/><a:ln><a:noFill/></a:ln></p:spPr><p:txBody><a:bodyPr wrap="square" anchor="t" lIns="0" rIns="0" tIns="0" bIns="0"/><a:lstStyle/><a:p><a:pPr/><a:r><a:rPr lang="tr-TR" sz="1180"><a:solidFill><a:srgbClr val="F8FAFC"/></a:solidFill><a:latin typeface="Aptos"/><a:t>Bir iddianın gerçekliğine tek başına karar vermek; tartışmanın kazananını seçmek; kullanıcı adına görüş değiştirmek; konuşmayı otomatik susturmak; kaynak, istatistik veya sonuç uydurmak.</a:t></a:r><a:endParaRPr lang="tr-TR" sz="1180"/></a:p></p:txBody></p:sp><p:sp><p:nvSpPr><p:cNvPr id="14" name="Shape 14"/><p:cNvSpPr/><p:nvPr/></p:nvSpPr><p:spPr><a:xfrm><a:off x="8040624" y="1572768"/><a:ext cx="3590544" cy="4224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8040624" y="1572768"/><a:ext cx="50292" cy="4224528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8205216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240" b="1"><a:solidFill><a:srgbClr val="FBBF24"/></a:solidFill><a:latin typeface="Aptos"/><a:t>Tasarım ilkeleri</a:t></a:r><a:endParaRPr lang="tr-TR" sz="1240"/></a:p></p:txBody></p:sp><p:sp><p:nvSpPr><p:cNvPr id="17" name="Text 17"/><p:cNvSpPr txBox="1"/><p:nvPr/></p:nvSpPr><p:spPr><a:xfrm><a:off x="8205216" y="2029968"/><a:ext cx="3316224" cy="3675888"/></a:xfrm><a:prstGeom prst="rect"><a:avLst/></a:prstGeom><a:noFill/><a:ln><a:noFill/></a:ln></p:spPr><p:txBody><a:bodyPr wrap="square" anchor="t" lIns="0" rIns="0" tIns="0" bIns="0"/><a:lstStyle/><a:p><a:pPr/><a:r><a:rPr lang="tr-TR" sz="1180"><a:solidFill><a:srgbClr val="F8FAFC"/></a:solidFill><a:latin typeface="Aptos"/><a:t>Görünürlük · belirsizlikte dürüstlük · anlamı koruma · açıklanabilir işlem adımları · ölçülebilirlik · yerel kontrol.</a:t></a:r><a:endParaRPr lang="tr-TR" sz="1180"/></a:p></p:txBody></p:sp><p:sp><p:nvSpPr><p:cNvPr id="18" name="Text 18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19" name="Text 19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05</a:t></a:r><a:endParaRPr lang="tr-TR" sz="820"/></a:p></p:txBody></p:sp></p:spTree></p:cSld><p:clrMapOvr><a:masterClrMapping/></p:clrMapOvr></p:sld>
</file>

<file path=ppt/slides/slide6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Bir tartışmayı nasıl işleriz?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Tek bir analiz çağrısı, farklı motorların ürettiği çıktıları tek bir sonuçta birleştirir.</a:t></a:r><a:endParaRPr lang="tr-TR" sz="1020"/></a:p></p:txBody></p:sp><p:sp><p:nvSpPr><p:cNvPr id="6" name="Shape 6"/><p:cNvSpPr/><p:nvPr/></p:nvSpPr><p:spPr><a:xfrm><a:off x="566928" y="1627632"/><a:ext cx="1510066" cy="713232"/></a:xfrm><a:prstGeom prst="roundRect"><a:avLst/></a:prstGeom><a:solidFill><a:srgbClr val="151D32"/></a:solidFill><a:ln w="12700"><a:solidFill><a:srgbClr val="22D3EE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Text 7"/><p:cNvSpPr txBox="1"/><p:nvPr/></p:nvSpPr><p:spPr><a:xfrm><a:off x="603504" y="1700784"/><a:ext cx="1436914" cy="566928"/></a:xfrm><a:prstGeom prst="rect"><a:avLst/></a:prstGeom><a:noFill/><a:ln><a:noFill/></a:ln></p:spPr><p:txBody><a:bodyPr wrap="square" anchor="t" lIns="18288" rIns="18288" tIns="18288" bIns="18288"/><a:lstStyle/><a:p><a:pPr algn="ctr"/><a:r><a:rPr lang="tr-TR" sz="900" b="1"><a:solidFill><a:srgbClr val="F8FAFC"/></a:solidFill><a:latin typeface="Aptos"/><a:t>Tartışma metni</a:t></a:r><a:endParaRPr lang="tr-TR" sz="900"/></a:p></p:txBody></p:sp><p:sp><p:nvSpPr><p:cNvPr id="8" name="Text 8"/><p:cNvSpPr txBox="1"/><p:nvPr/></p:nvSpPr><p:spPr><a:xfrm><a:off x="2081566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9" name="Shape 9"/><p:cNvSpPr/><p:nvPr/></p:nvSpPr><p:spPr><a:xfrm><a:off x="2159290" y="1627632"/><a:ext cx="1510066" cy="713232"/></a:xfrm><a:prstGeom prst="roundRect"><a:avLst/></a:prstGeom><a:solidFill><a:srgbClr val="151D32"/></a:solidFill><a:ln w="12700"><a:solidFill><a:srgbClr val="34D399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0" name="Text 10"/><p:cNvSpPr txBox="1"/><p:nvPr/></p:nvSpPr><p:spPr><a:xfrm><a:off x="2195866" y="1700784"/><a:ext cx="1436914" cy="566928"/></a:xfrm><a:prstGeom prst="rect"><a:avLst/></a:prstGeom><a:noFill/><a:ln><a:noFill/></a:ln></p:spPr><p:txBody><a:bodyPr wrap="square" anchor="t" lIns="18288" rIns="18288" tIns="18288" bIns="18288"/><a:lstStyle/><a:p><a:pPr algn="ctr"/><a:r><a:rPr lang="tr-TR" sz="900" b="1"><a:solidFill><a:srgbClr val="F8FAFC"/></a:solidFill><a:latin typeface="Aptos"/><a:t>Normalize + tekilleştir</a:t></a:r><a:endParaRPr lang="tr-TR" sz="900"/></a:p></p:txBody></p:sp><p:sp><p:nvSpPr><p:cNvPr id="11" name="Text 11"/><p:cNvSpPr txBox="1"/><p:nvPr/></p:nvSpPr><p:spPr><a:xfrm><a:off x="3673929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12" name="Shape 12"/><p:cNvSpPr/><p:nvPr/></p:nvSpPr><p:spPr><a:xfrm><a:off x="3751653" y="1627632"/><a:ext cx="1510066" cy="713232"/></a:xfrm><a:prstGeom prst="roundRect"><a:avLst/></a:prstGeom><a:solidFill><a:srgbClr val="151D32"/></a:solidFill><a:ln w="12700"><a:solidFill><a:srgbClr val="FBBF24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3" name="Text 13"/><p:cNvSpPr txBox="1"/><p:nvPr/></p:nvSpPr><p:spPr><a:xfrm><a:off x="3788229" y="1700784"/><a:ext cx="1436914" cy="566928"/></a:xfrm><a:prstGeom prst="rect"><a:avLst/></a:prstGeom><a:noFill/><a:ln><a:noFill/></a:ln></p:spPr><p:txBody><a:bodyPr wrap="square" anchor="t" lIns="18288" rIns="18288" tIns="18288" bIns="18288"/><a:lstStyle/><a:p><a:pPr algn="ctr"/><a:r><a:rPr lang="tr-TR" sz="900" b="1"><a:solidFill><a:srgbClr val="F8FAFC"/></a:solidFill><a:latin typeface="Aptos"/><a:t>Görüş ve görüş haritası</a:t></a:r><a:endParaRPr lang="tr-TR" sz="900"/></a:p></p:txBody></p:sp><p:sp><p:nvSpPr><p:cNvPr id="14" name="Text 14"/><p:cNvSpPr txBox="1"/><p:nvPr/></p:nvSpPr><p:spPr><a:xfrm><a:off x="5266291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15" name="Shape 15"/><p:cNvSpPr/><p:nvPr/></p:nvSpPr><p:spPr><a:xfrm><a:off x="5344015" y="1627632"/><a:ext cx="1510066" cy="713232"/></a:xfrm><a:prstGeom prst="roundRect"><a:avLst/></a:prstGeom><a:solidFill><a:srgbClr val="151D32"/></a:solidFill><a:ln w="12700"><a:solidFill><a:srgbClr val="FB718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5380591" y="1700784"/><a:ext cx="1436914" cy="566928"/></a:xfrm><a:prstGeom prst="rect"><a:avLst/></a:prstGeom><a:noFill/><a:ln><a:noFill/></a:ln></p:spPr><p:txBody><a:bodyPr wrap="square" anchor="t" lIns="18288" rIns="18288" tIns="18288" bIns="18288"/><a:lstStyle/><a:p><a:pPr algn="ctr"/><a:r><a:rPr lang="tr-TR" sz="900" b="1"><a:solidFill><a:srgbClr val="F8FAFC"/></a:solidFill><a:latin typeface="Aptos"/><a:t>İddia + kanıt ihtiyacı</a:t></a:r><a:endParaRPr lang="tr-TR" sz="900"/></a:p></p:txBody></p:sp><p:sp><p:nvSpPr><p:cNvPr id="17" name="Text 17"/><p:cNvSpPr txBox="1"/><p:nvPr/></p:nvSpPr><p:spPr><a:xfrm><a:off x="6858653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18" name="Shape 18"/><p:cNvSpPr/><p:nvPr/></p:nvSpPr><p:spPr><a:xfrm><a:off x="6936377" y="1627632"/><a:ext cx="1510066" cy="713232"/></a:xfrm><a:prstGeom prst="roundRect"><a:avLst/></a:prstGeom><a:solidFill><a:srgbClr val="151D32"/></a:solidFill><a:ln w="12700"><a:solidFill><a:srgbClr val="22D3EE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Text 19"/><p:cNvSpPr txBox="1"/><p:nvPr/></p:nvSpPr><p:spPr><a:xfrm><a:off x="6972953" y="1700784"/><a:ext cx="1436914" cy="566928"/></a:xfrm><a:prstGeom prst="rect"><a:avLst/></a:prstGeom><a:noFill/><a:ln><a:noFill/></a:ln></p:spPr><p:txBody><a:bodyPr wrap="square" anchor="t" lIns="18288" rIns="18288" tIns="18288" bIns="18288"/><a:lstStyle/><a:p><a:pPr algn="ctr"/><a:r><a:rPr lang="tr-TR" sz="900" b="1"><a:solidFill><a:srgbClr val="F8FAFC"/></a:solidFill><a:latin typeface="Aptos"/><a:t>Sorular + ortak zemin</a:t></a:r><a:endParaRPr lang="tr-TR" sz="900"/></a:p></p:txBody></p:sp><p:sp><p:nvSpPr><p:cNvPr id="20" name="Text 20"/><p:cNvSpPr txBox="1"/><p:nvPr/></p:nvSpPr><p:spPr><a:xfrm><a:off x="8451015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21" name="Shape 21"/><p:cNvSpPr/><p:nvPr/></p:nvSpPr><p:spPr><a:xfrm><a:off x="8528739" y="1627632"/><a:ext cx="1510066" cy="713232"/></a:xfrm><a:prstGeom prst="roundRect"><a:avLst/></a:prstGeom><a:solidFill><a:srgbClr val="151D32"/></a:solidFill><a:ln w="12700"><a:solidFill><a:srgbClr val="34D399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2" name="Text 22"/><p:cNvSpPr txBox="1"/><p:nvPr/></p:nvSpPr><p:spPr><a:xfrm><a:off x="8565315" y="1700784"/><a:ext cx="1436914" cy="566928"/></a:xfrm><a:prstGeom prst="rect"><a:avLst/></a:prstGeom><a:noFill/><a:ln><a:noFill/></a:ln></p:spPr><p:txBody><a:bodyPr wrap="square" anchor="t" lIns="18288" rIns="18288" tIns="18288" bIns="18288"/><a:lstStyle/><a:p><a:pPr algn="ctr"/><a:r><a:rPr lang="tr-TR" sz="900" b="1"><a:solidFill><a:srgbClr val="F8FAFC"/></a:solidFill><a:latin typeface="Aptos"/><a:t>Yanıt Koçu + Köprü Oluştur</a:t></a:r><a:endParaRPr lang="tr-TR" sz="900"/></a:p></p:txBody></p:sp><p:sp><p:nvSpPr><p:cNvPr id="23" name="Text 23"/><p:cNvSpPr txBox="1"/><p:nvPr/></p:nvSpPr><p:spPr><a:xfrm><a:off x="10043378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24" name="Shape 24"/><p:cNvSpPr/><p:nvPr/></p:nvSpPr><p:spPr><a:xfrm><a:off x="10121102" y="1627632"/><a:ext cx="1510066" cy="713232"/></a:xfrm><a:prstGeom prst="roundRect"><a:avLst/></a:prstGeom><a:solidFill><a:srgbClr val="151D32"/></a:solidFill><a:ln w="12700"><a:solidFill><a:srgbClr val="FBBF24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5" name="Text 25"/><p:cNvSpPr txBox="1"/><p:nvPr/></p:nvSpPr><p:spPr><a:xfrm><a:off x="10157678" y="1700784"/><a:ext cx="1436914" cy="566928"/></a:xfrm><a:prstGeom prst="rect"><a:avLst/></a:prstGeom><a:noFill/><a:ln><a:noFill/></a:ln></p:spPr><p:txBody><a:bodyPr wrap="square" anchor="t" lIns="18288" rIns="18288" tIns="18288" bIns="18288"/><a:lstStyle/><a:p><a:pPr algn="ctr"/><a:r><a:rPr lang="tr-TR" sz="900" b="1"><a:solidFill><a:srgbClr val="F8FAFC"/></a:solidFill><a:latin typeface="Aptos"/><a:t>SQLite geçmişi / bildirim</a:t></a:r><a:endParaRPr lang="tr-TR" sz="900"/></a:p></p:txBody></p:sp><p:sp><p:nvSpPr><p:cNvPr id="26" name="Shape 26"/><p:cNvSpPr/><p:nvPr/></p:nvSpPr><p:spPr><a:xfrm><a:off x="566928" y="2743200"/><a:ext cx="5458968" cy="138988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7" name="Shape 27"/><p:cNvSpPr/><p:nvPr/></p:nvSpPr><p:spPr><a:xfrm><a:off x="566928" y="2743200"/><a:ext cx="50292" cy="138988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8" name="Text 28"/><p:cNvSpPr txBox="1"/><p:nvPr/></p:nvSpPr><p:spPr><a:xfrm><a:off x="731520" y="2852928"/><a:ext cx="5184648" cy="274320"/></a:xfrm><a:prstGeom prst="rect"><a:avLst/></a:prstGeom><a:noFill/><a:ln><a:noFill/></a:ln></p:spPr><p:txBody><a:bodyPr wrap="square" anchor="t" lIns="0" rIns="0" tIns="0" bIns="0"/><a:lstStyle/><a:p><a:pPr/><a:r><a:rPr lang="tr-TR" sz="1100" b="1"><a:solidFill><a:srgbClr val="22D3EE"/></a:solidFill><a:latin typeface="Aptos"/><a:t>Motor yaklaşımı</a:t></a:r><a:endParaRPr lang="tr-TR" sz="1100"/></a:p></p:txBody></p:sp><p:sp><p:nvSpPr><p:cNvPr id="29" name="Text 29"/><p:cNvSpPr txBox="1"/><p:nvPr/></p:nvSpPr><p:spPr><a:xfrm><a:off x="731520" y="3200400"/><a:ext cx="5184648" cy="841248"/></a:xfrm><a:prstGeom prst="rect"><a:avLst/></a:prstGeom><a:noFill/><a:ln><a:noFill/></a:ln></p:spPr><p:txBody><a:bodyPr wrap="square" anchor="t" lIns="0" rIns="0" tIns="0" bIns="0"/><a:lstStyle/><a:p><a:pPr/><a:r><a:rPr lang="tr-TR" sz="990"><a:solidFill><a:srgbClr val="F8FAFC"/></a:solidFill><a:latin typeface="Aptos"/><a:t>Yüksek güvenli Türkçe yapısal sinyaller hızlı yolu oluşturur. Belirsiz görüş ve iddia örneklerinde isteğe bağlı mDeBERTa-XNLI devreye girer. Qwen yalnızca isteğe bağlı Yanıt Koçu üretken katmanıdır.</a:t></a:r><a:endParaRPr lang="tr-TR" sz="990"/></a:p></p:txBody></p:sp><p:sp><p:nvSpPr><p:cNvPr id="30" name="Shape 30"/><p:cNvSpPr/><p:nvPr/></p:nvSpPr><p:spPr><a:xfrm><a:off x="6172200" y="2743200"/><a:ext cx="5458968" cy="138988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1" name="Shape 31"/><p:cNvSpPr/><p:nvPr/></p:nvSpPr><p:spPr><a:xfrm><a:off x="6172200" y="2743200"/><a:ext cx="50292" cy="138988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2" name="Text 32"/><p:cNvSpPr txBox="1"/><p:nvPr/></p:nvSpPr><p:spPr><a:xfrm><a:off x="6336792" y="2852928"/><a:ext cx="5184648" cy="274320"/></a:xfrm><a:prstGeom prst="rect"><a:avLst/></a:prstGeom><a:noFill/><a:ln><a:noFill/></a:ln></p:spPr><p:txBody><a:bodyPr wrap="square" anchor="t" lIns="0" rIns="0" tIns="0" bIns="0"/><a:lstStyle/><a:p><a:pPr/><a:r><a:rPr lang="tr-TR" sz="1100" b="1"><a:solidFill><a:srgbClr val="34D399"/></a:solidFill><a:latin typeface="Aptos"/><a:t>Kalıcı çıktı</a:t></a:r><a:endParaRPr lang="tr-TR" sz="1100"/></a:p></p:txBody></p:sp><p:sp><p:nvSpPr><p:cNvPr id="33" name="Text 33"/><p:cNvSpPr txBox="1"/><p:nvPr/></p:nvSpPr><p:spPr><a:xfrm><a:off x="6336792" y="3200400"/><a:ext cx="5184648" cy="841248"/></a:xfrm><a:prstGeom prst="rect"><a:avLst/></a:prstGeom><a:noFill/><a:ln><a:noFill/></a:ln></p:spPr><p:txBody><a:bodyPr wrap="square" anchor="t" lIns="0" rIns="0" tIns="0" bIns="0"/><a:lstStyle/><a:p><a:pPr/><a:r><a:rPr lang="tr-TR" sz="990"><a:solidFill><a:srgbClr val="F8FAFC"/></a:solidFill><a:latin typeface="Aptos"/><a:t>Analiz sonucu geçmişe snapshot olarak kaydedilir; yeni ve anlamlı değişiklikler içerik tabanlı bildirim kimliğiyle izlenir.</a:t></a:r><a:endParaRPr lang="tr-TR" sz="990"/></a:p></p:txBody></p:sp><p:sp><p:nvSpPr><p:cNvPr id="34" name="Text 34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35" name="Text 35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06</a:t></a:r><a:endParaRPr lang="tr-TR" sz="820"/></a:p></p:txBody></p:sp></p:spTree></p:cSld><p:clrMapOvr><a:masterClrMapping/></p:clrMapOvr></p:sld>
</file>

<file path=ppt/slides/slide7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Örnek tartışma: tek bir soru, sekiz farklı ihtiyacı açığa çıkarıyor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Demo konusu: “Üniversitelerde yapay zekâ kullanımı yasaklanmalı mı?”</a:t></a:r><a:endParaRPr lang="tr-TR" sz="1020"/></a:p></p:txBody></p:sp><p:sp><p:nvSpPr><p:cNvPr id="6" name="Shape 6"/><p:cNvSpPr/><p:nvPr/></p:nvSpPr><p:spPr><a:xfrm><a:off x="566928" y="1572768"/><a:ext cx="5532120" cy="477520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Text 7"/><p:cNvSpPr txBox="1"/><p:nvPr/></p:nvSpPr><p:spPr><a:xfrm><a:off x="603504" y="1600200"/><a:ext cx="5458968" cy="422656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Örnek katkı</a:t></a:r><a:endParaRPr lang="tr-TR" sz="1000"/></a:p></p:txBody></p:sp><p:sp><p:nvSpPr><p:cNvPr id="8" name="Shape 8"/><p:cNvSpPr/><p:nvPr/></p:nvSpPr><p:spPr><a:xfrm><a:off x="6099048" y="1572768"/><a:ext cx="5532120" cy="477520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9" name="Text 9"/><p:cNvSpPr txBox="1"/><p:nvPr/></p:nvSpPr><p:spPr><a:xfrm><a:off x="6135624" y="1600200"/><a:ext cx="5458968" cy="422656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Sistemin gördüğü ihtiyaç</a:t></a:r><a:endParaRPr lang="tr-TR" sz="1000"/></a:p></p:txBody></p:sp><p:sp><p:nvSpPr><p:cNvPr id="10" name="Shape 10"/><p:cNvSpPr/><p:nvPr/></p:nvSpPr><p:spPr><a:xfrm><a:off x="566928" y="2050288"/><a:ext cx="5532120" cy="47752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Text 11"/><p:cNvSpPr txBox="1"/><p:nvPr/></p:nvSpPr><p:spPr><a:xfrm><a:off x="603504" y="207772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“Kesinlikle yasaklanmalı; öğrenciler düşünmeyi bırakıyor.”</a:t></a:r><a:endParaRPr lang="tr-TR" sz="925"/></a:p></p:txBody></p:sp><p:sp><p:nvSpPr><p:cNvPr id="12" name="Shape 12"/><p:cNvSpPr/><p:nvPr/></p:nvSpPr><p:spPr><a:xfrm><a:off x="6099048" y="2050288"/><a:ext cx="5532120" cy="47752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3" name="Text 13"/><p:cNvSpPr txBox="1"/><p:nvPr/></p:nvSpPr><p:spPr><a:xfrm><a:off x="6135624" y="207772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Karşı / sınırlayıcı görüş + gerekçe</a:t></a:r><a:endParaRPr lang="tr-TR" sz="925"/></a:p></p:txBody></p:sp><p:sp><p:nvSpPr><p:cNvPr id="14" name="Shape 14"/><p:cNvSpPr/><p:nvPr/></p:nvSpPr><p:spPr><a:xfrm><a:off x="566928" y="2527808"/><a:ext cx="5532120" cy="47752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Text 15"/><p:cNvSpPr txBox="1"/><p:nvPr/></p:nvSpPr><p:spPr><a:xfrm><a:off x="603504" y="255524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“Tamamen yasaklamak yanlış; doğru kullanılırsa faydalı.”</a:t></a:r><a:endParaRPr lang="tr-TR" sz="925"/></a:p></p:txBody></p:sp><p:sp><p:nvSpPr><p:cNvPr id="16" name="Shape 16"/><p:cNvSpPr/><p:nvPr/></p:nvSpPr><p:spPr><a:xfrm><a:off x="6099048" y="2527808"/><a:ext cx="5532120" cy="47752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7" name="Text 17"/><p:cNvSpPr txBox="1"/><p:nvPr/></p:nvSpPr><p:spPr><a:xfrm><a:off x="6135624" y="255524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Koşullu veya destekleyici görüş</a:t></a:r><a:endParaRPr lang="tr-TR" sz="925"/></a:p></p:txBody></p:sp><p:sp><p:nvSpPr><p:cNvPr id="18" name="Shape 18"/><p:cNvSpPr/><p:nvPr/></p:nvSpPr><p:spPr><a:xfrm><a:off x="566928" y="3005328"/><a:ext cx="5532120" cy="47752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Text 19"/><p:cNvSpPr txBox="1"/><p:nvPr/></p:nvSpPr><p:spPr><a:xfrm><a:off x="603504" y="303276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“Sorun yasaklamak değil, nasıl kullandığımız.”</a:t></a:r><a:endParaRPr lang="tr-TR" sz="925"/></a:p></p:txBody></p:sp><p:sp><p:nvSpPr><p:cNvPr id="20" name="Shape 20"/><p:cNvSpPr/><p:nvPr/></p:nvSpPr><p:spPr><a:xfrm><a:off x="6099048" y="3005328"/><a:ext cx="5532120" cy="47752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1" name="Text 21"/><p:cNvSpPr txBox="1"/><p:nvPr/></p:nvSpPr><p:spPr><a:xfrm><a:off x="6135624" y="303276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Çerçeveleme / ara pozisyon</a:t></a:r><a:endParaRPr lang="tr-TR" sz="925"/></a:p></p:txBody></p:sp><p:sp><p:nvSpPr><p:cNvPr id="22" name="Shape 22"/><p:cNvSpPr/><p:nvPr/></p:nvSpPr><p:spPr><a:xfrm><a:off x="566928" y="3482848"/><a:ext cx="5532120" cy="47752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Text 23"/><p:cNvSpPr txBox="1"/><p:nvPr/></p:nvSpPr><p:spPr><a:xfrm><a:off x="603504" y="351028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“Kaynak göstermeden kullanılırsa güvenilirlik zarar görüyor.”</a:t></a:r><a:endParaRPr lang="tr-TR" sz="925"/></a:p></p:txBody></p:sp><p:sp><p:nvSpPr><p:cNvPr id="24" name="Shape 24"/><p:cNvSpPr/><p:nvPr/></p:nvSpPr><p:spPr><a:xfrm><a:off x="6099048" y="3482848"/><a:ext cx="5532120" cy="47752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5" name="Text 25"/><p:cNvSpPr txBox="1"/><p:nvPr/></p:nvSpPr><p:spPr><a:xfrm><a:off x="6135624" y="351028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İddia + kaynak/kanıt ihtiyacı</a:t></a:r><a:endParaRPr lang="tr-TR" sz="925"/></a:p></p:txBody></p:sp><p:sp><p:nvSpPr><p:cNvPr id="26" name="Shape 26"/><p:cNvSpPr/><p:nvPr/></p:nvSpPr><p:spPr><a:xfrm><a:off x="566928" y="3960368"/><a:ext cx="5532120" cy="47752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7" name="Text 27"/><p:cNvSpPr txBox="1"/><p:nvPr/></p:nvSpPr><p:spPr><a:xfrm><a:off x="603504" y="398780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“Başarı düzeyini karşılaştıran güvenilir araştırma var mı?”</a:t></a:r><a:endParaRPr lang="tr-TR" sz="925"/></a:p></p:txBody></p:sp><p:sp><p:nvSpPr><p:cNvPr id="28" name="Shape 28"/><p:cNvSpPr/><p:nvPr/></p:nvSpPr><p:spPr><a:xfrm><a:off x="6099048" y="3960368"/><a:ext cx="5532120" cy="47752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9" name="Text 29"/><p:cNvSpPr txBox="1"/><p:nvPr/></p:nvSpPr><p:spPr><a:xfrm><a:off x="6135624" y="398780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Kaynak / kanıt talebi</a:t></a:r><a:endParaRPr lang="tr-TR" sz="925"/></a:p></p:txBody></p:sp><p:sp><p:nvSpPr><p:cNvPr id="30" name="Shape 30"/><p:cNvSpPr/><p:nvPr/></p:nvSpPr><p:spPr><a:xfrm><a:off x="566928" y="4437888"/><a:ext cx="5532120" cy="47752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1" name="Text 31"/><p:cNvSpPr txBox="1"/><p:nvPr/></p:nvSpPr><p:spPr><a:xfrm><a:off x="603504" y="446532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“Sınavlarda yasak, öğrenme sürecinde kontrollü serbest olmalı.”</a:t></a:r><a:endParaRPr lang="tr-TR" sz="925"/></a:p></p:txBody></p:sp><p:sp><p:nvSpPr><p:cNvPr id="32" name="Shape 32"/><p:cNvSpPr/><p:nvPr/></p:nvSpPr><p:spPr><a:xfrm><a:off x="6099048" y="4437888"/><a:ext cx="5532120" cy="47752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3" name="Text 33"/><p:cNvSpPr txBox="1"/><p:nvPr/></p:nvSpPr><p:spPr><a:xfrm><a:off x="6135624" y="446532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Koşullu görüş + bağlam korunmalı</a:t></a:r><a:endParaRPr lang="tr-TR" sz="925"/></a:p></p:txBody></p:sp><p:sp><p:nvSpPr><p:cNvPr id="34" name="Shape 34"/><p:cNvSpPr/><p:nvPr/></p:nvSpPr><p:spPr><a:xfrm><a:off x="566928" y="4915408"/><a:ext cx="5532120" cy="47752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5" name="Text 35"/><p:cNvSpPr txBox="1"/><p:nvPr/></p:nvSpPr><p:spPr><a:xfrm><a:off x="603504" y="494284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“Geçen dönem sınıfımızın %70’i kullandı.”</a:t></a:r><a:endParaRPr lang="tr-TR" sz="925"/></a:p></p:txBody></p:sp><p:sp><p:nvSpPr><p:cNvPr id="36" name="Shape 36"/><p:cNvSpPr/><p:nvPr/></p:nvSpPr><p:spPr><a:xfrm><a:off x="6099048" y="4915408"/><a:ext cx="5532120" cy="477520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7" name="Text 37"/><p:cNvSpPr txBox="1"/><p:nvPr/></p:nvSpPr><p:spPr><a:xfrm><a:off x="6135624" y="494284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Sayısal/doğrulanabilir iddia</a:t></a:r><a:endParaRPr lang="tr-TR" sz="925"/></a:p></p:txBody></p:sp><p:sp><p:nvSpPr><p:cNvPr id="38" name="Shape 38"/><p:cNvSpPr/><p:nvPr/></p:nvSpPr><p:spPr><a:xfrm><a:off x="566928" y="5392928"/><a:ext cx="5532120" cy="47752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9" name="Text 39"/><p:cNvSpPr txBox="1"/><p:nvPr/></p:nvSpPr><p:spPr><a:xfrm><a:off x="603504" y="542036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“Hangi kullanım biçimleri öğrenmeyi güçlendiriyor?”</a:t></a:r><a:endParaRPr lang="tr-TR" sz="925"/></a:p></p:txBody></p:sp><p:sp><p:nvSpPr><p:cNvPr id="40" name="Shape 40"/><p:cNvSpPr/><p:nvPr/></p:nvSpPr><p:spPr><a:xfrm><a:off x="6099048" y="5392928"/><a:ext cx="5532120" cy="477520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1" name="Text 41"/><p:cNvSpPr txBox="1"/><p:nvPr/></p:nvSpPr><p:spPr><a:xfrm><a:off x="6135624" y="5420360"/><a:ext cx="5458968" cy="422656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Ölçülebilir cevapsız soru</a:t></a:r><a:endParaRPr lang="tr-TR" sz="925"/></a:p></p:txBody></p:sp><p:sp><p:nvSpPr><p:cNvPr id="42" name="Text 4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43" name="Text 4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07</a:t></a:r><a:endParaRPr lang="tr-TR" sz="820"/></a:p></p:txBody></p:sp></p:spTree></p:cSld><p:clrMapOvr><a:masterClrMapping/></p:clrMapOvr></p:sld>
</file>

<file path=ppt/slides/slide8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Modül 1 · Tartışmayı Anla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İlk aşama, akışın genel yapısını kullanıcıya özetler.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Girdi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Tartışma başlığı, yorumlar, yazar bilgisi, zaman ve etkileşim verileri.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İşlem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Metinler normalize edilir; demo gibi tekrarlı akışlarda aynı içeriğin tekrarları tekilleştirilir; yorumların görüş ve soru özellikleri sonraki motorlara aktarılır.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Çıktı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Tartışma özeti, ana ayrışmalar, ölçülebilir göstergeler, görüş dağılımı, iddia adayları ve açık soruların genel görünümü.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Demo kanıtı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Demo akışında 80 ham yorum 20 benzersiz yoruma indirgenir; bu işlem analiz çıktısını şişirmeden tekrarları kontrol eder.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08</a:t></a:r><a:endParaRPr lang="tr-TR" sz="820"/></a:p></p:txBody></p:sp></p:spTree></p:cSld><p:clrMapOvr><a:masterClrMapping/></p:clrMapOvr></p:sld>
</file>

<file path=ppt/slides/slide9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Modül 2 · Ortak Zemin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Uzlaşma iddiası değil; ilerleyebilmek için kesişen tema ve gerekçelerin görünürleştirilmesi.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Bulduğu şey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Farklı görüşlerde tekrar eden tema, gerekçe ve kabul edilebilir başlangıç noktaları.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Kanıt bağlantısı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Ortak zemin maddeleri destekleyen yorum kimlikleriyle ilişkilendirilir; böylece yalnızca genel bir cümle değil, hangi yorumlardan çıktığı da izlenebilir.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Yanlış uzlaşmayı önleme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Bir tema iki tarafın tüm sonuçlarda anlaştığını göstermez. Sistem ortak noktayı, ayrışma ve eksik bilgiyle birlikte sunar.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Örnek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“Kullanım amacı ve sınav bütünlüğü önemli” ortak bir başlangıç olabilir; bundan hangi kullanımın kabul edileceği otomatik olarak çıkarılmaz.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09</a:t></a:r><a:endParaRPr lang="tr-TR" sz="820"/></a:p></p:txBody></p:sp></p:spTree></p:cSld><p:clrMapOvr><a:masterClrMapping/></p:clrMapOvr></p:sld>
</file>

<file path=ppt/slides/slide10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Modül 3 · Görüş Haritası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Dört sınıf, görüşlerin yönünü ve ara pozisyonları ayrı tutar.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Sınıflar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Destekleyen · Karşı / Sınırlayıcı · Koşullu / Dengeli · Soru / Tarafsız.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Zenginleştirme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Her küme için temsilci yorumlar, baskın temalar, ortak temalar, karşıt görüş ilişkileri, ilişkili iddia ve soru kimlikleri tutulur.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Hibrit karar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Türkçe yapısal sinyaller yüksek güvenli örnekleri hızlı sınıflandırır; belirsiz örnekler isteğe bağlı Transformer katmanına gidebilir.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Dürüstlük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Etiket görüş yönünü açıklar; haklılık veya doğruluk sonucu değildir. Model güveni de iddianın gerçekliğini göstermez.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10</a:t></a:r><a:endParaRPr lang="tr-TR" sz="820"/></a:p></p:txBody></p:sp></p:spTree></p:cSld><p:clrMapOvr><a:masterClrMapping/></p:clrMapOvr></p:sld>
</file>

<file path=ppt/slides/slide11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Modül 4 · İddia Radarı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İddiaları doğrulamaz; hangi cümlelerin doğrulama gerektirdiğini görünür kılar.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İddia adayları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Nicel/istatistiksel, karşılaştırmalı, etki/nedensellik, yaygınlık/davranış ve genel olgusal iddia türleri.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Kaynak farkındalığı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Kaynak veya kanıt işareti var mı? İddianın doğrulanması için hangi kanıt türü gerekir? Öncelik yüksek, orta veya düşük mü?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Örnek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“Öğrencilerin %70’i kullandı” ifadesi sayısal bir iddia olarak korunur; sistem oranı doğru kabul etmez, kaynağının sorulması gerektiğini işaretler.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Güvenlik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Sistem kendisini bağımsız fact-checking servisi gibi konumlandırmaz; kaynak gösterme ve insan doğrulamasını gerekli sonraki adım olarak bırakır.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11</a:t></a:r><a:endParaRPr lang="tr-TR" sz="820"/></a:p></p:txBody></p:sp></p:spTree></p:cSld><p:clrMapOvr><a:masterClrMapping/></p:clrMapOvr></p:sld>
</file>

<file path=ppt/slides/slide12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Modül 5 · Cevapsız Sorular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Soruyu yalnızca soru işaretinden değil, anlamından ve tartışmadaki etkisinden izler.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Soru türleri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Kaynak / Kanıt Talebi · Uygulama / Karar Sorusu · Bilgi / Açıklama Sorusu · Retorik / Meydan Okuma.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Gruplama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Aynı anlamdaki tekrarlar tek soru kimliğinde gruplanır; ilgili yorumlar, etkilenen görüşler ve bağlantılı iddialar tutulur.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Durum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Cevapsız · Kısmen cevaplandı · Cevaplandı. Durum, sonraki yorumlarla ilişkili anlamsal örtüşmeye göre güncellenir.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Öncelik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Kaynak talebi, birden fazla görüşü etkileyen soru veya iddiaya bağlı soru daha görünür hâle gelir.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12</a:t></a:r><a:endParaRPr lang="tr-TR" sz="820"/></a:p></p:txBody></p:sp></p:spTree></p:cSld><p:clrMapOvr><a:masterClrMapping/></p:clrMapOvr></p:sld>
</file>

<file path=ppt/slides/slide13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Modül 6 · Yanıt Koçu: yazmadan önce kontrol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Niyeti koru · dili iyileştir · güvenliği denetle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Girdi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Kullanıcının yazdığı taslak mesaj ve varsa tartışma bağlamı.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Analiz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Hakaret/küfür, kişiye yönelik saldırı, ironi/sarkazm, soru, sayısal iddia, kaynak talebi, görüş yönü, koşullu görüş, konuya katkı eleştirisi ve bağlamı yeniden değerlendirme isteği.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Çıktı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Açıklama, yapıcı öneri, algılanan sinyaller, kullanılan motor ve işlem süresi. Kullanıcının yerine otomatik gönderim yapılmaz.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İlke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Mesaj zaten yapıcıysa gereksiz yere değiştirme; saldırı varsa kişiyi değil görüşü ve gerekçeyi tartışacak biçimde yeniden yaz.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13</a:t></a:r><a:endParaRPr lang="tr-TR" sz="820"/></a:p></p:txBody></p:sp></p:spTree></p:cSld><p:clrMapOvr><a:masterClrMapping/></p:clrMapOvr></p:sld>
</file>

<file path=ppt/slides/slide14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Yanıt Koçu hangi sinyalleri çıkarıyor?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Tek bir kelimeye değil, birleşen sinyallere göre karar veriyor.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Dil ve güvenlik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Hakaret/küfür · kişiye yönelik saldırı · açık ironi/sarkazm · bağlamı okumama veya yeniden değerlendirme saldırısı.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İçerik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Soru · sayısal/doğrulanabilir iddia · kaynak/kanıt vurgusu · konuya katkı eleştirisi.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Görüş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Görüş ayrılığı/itiraz · destek/olumlu görüş · koşullu/dengeli görüş · nötr/bağlamsal ifade.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Yanlış pozitif koruması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“Tabii ki” veya “aynen katılıyorum” gibi normal olumlu ifadeler tek başına ironi sayılmaz; güçlü ve örtüşen ironi işaretleri aranır.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14</a:t></a:r><a:endParaRPr lang="tr-TR" sz="820"/></a:p></p:txBody></p:sp></p:spTree></p:cSld><p:clrMapOvr><a:masterClrMapping/></p:clrMapOvr></p:sld>
</file>

<file path=ppt/slides/slide15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Yanıt Koçu’nun karar sırası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Her üretim aynı güvenlik kapısından geçer.</a:t></a:r><a:endParaRPr lang="tr-TR" sz="1020"/></a:p></p:txBody></p:sp><p:sp><p:nvSpPr><p:cNvPr id="6" name="Shape 6"/><p:cNvSpPr/><p:nvPr/></p:nvSpPr><p:spPr><a:xfrm><a:off x="566928" y="1627632"/><a:ext cx="1775460" cy="713232"/></a:xfrm><a:prstGeom prst="roundRect"><a:avLst/></a:prstGeom><a:solidFill><a:srgbClr val="151D32"/></a:solidFill><a:ln w="12700"><a:solidFill><a:srgbClr val="22D3EE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Text 7"/><p:cNvSpPr txBox="1"/><p:nvPr/></p:nvSpPr><p:spPr><a:xfrm><a:off x="603504" y="1700784"/><a:ext cx="1702308" cy="566928"/></a:xfrm><a:prstGeom prst="rect"><a:avLst/></a:prstGeom><a:noFill/><a:ln><a:noFill/></a:ln></p:spPr><p:txBody><a:bodyPr wrap="square" anchor="t" lIns="18288" rIns="18288" tIns="18288" bIns="18288"/><a:lstStyle/><a:p><a:pPr algn="ctr"/><a:r><a:rPr lang="tr-TR" sz="1020" b="1"><a:solidFill><a:srgbClr val="F8FAFC"/></a:solidFill><a:latin typeface="Aptos"/><a:t>Normalize et</a:t></a:r><a:endParaRPr lang="tr-TR" sz="1020"/></a:p></p:txBody></p:sp><p:sp><p:nvSpPr><p:cNvPr id="8" name="Text 8"/><p:cNvSpPr txBox="1"/><p:nvPr/></p:nvSpPr><p:spPr><a:xfrm><a:off x="2346960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9" name="Shape 9"/><p:cNvSpPr/><p:nvPr/></p:nvSpPr><p:spPr><a:xfrm><a:off x="2424684" y="1627632"/><a:ext cx="1775460" cy="713232"/></a:xfrm><a:prstGeom prst="roundRect"><a:avLst/></a:prstGeom><a:solidFill><a:srgbClr val="151D32"/></a:solidFill><a:ln w="12700"><a:solidFill><a:srgbClr val="34D399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0" name="Text 10"/><p:cNvSpPr txBox="1"/><p:nvPr/></p:nvSpPr><p:spPr><a:xfrm><a:off x="2461260" y="1700784"/><a:ext cx="1702308" cy="566928"/></a:xfrm><a:prstGeom prst="rect"><a:avLst/></a:prstGeom><a:noFill/><a:ln><a:noFill/></a:ln></p:spPr><p:txBody><a:bodyPr wrap="square" anchor="t" lIns="18288" rIns="18288" tIns="18288" bIns="18288"/><a:lstStyle/><a:p><a:pPr algn="ctr"/><a:r><a:rPr lang="tr-TR" sz="1020" b="1"><a:solidFill><a:srgbClr val="F8FAFC"/></a:solidFill><a:latin typeface="Aptos"/><a:t>Sinyalleri çıkar</a:t></a:r><a:endParaRPr lang="tr-TR" sz="1020"/></a:p></p:txBody></p:sp><p:sp><p:nvSpPr><p:cNvPr id="11" name="Text 11"/><p:cNvSpPr txBox="1"/><p:nvPr/></p:nvSpPr><p:spPr><a:xfrm><a:off x="4204716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12" name="Shape 12"/><p:cNvSpPr/><p:nvPr/></p:nvSpPr><p:spPr><a:xfrm><a:off x="4282440" y="1627632"/><a:ext cx="1775460" cy="713232"/></a:xfrm><a:prstGeom prst="roundRect"><a:avLst/></a:prstGeom><a:solidFill><a:srgbClr val="151D32"/></a:solidFill><a:ln w="12700"><a:solidFill><a:srgbClr val="FBBF24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3" name="Text 13"/><p:cNvSpPr txBox="1"/><p:nvPr/></p:nvSpPr><p:spPr><a:xfrm><a:off x="4319016" y="1700784"/><a:ext cx="1702308" cy="566928"/></a:xfrm><a:prstGeom prst="rect"><a:avLst/></a:prstGeom><a:noFill/><a:ln><a:noFill/></a:ln></p:spPr><p:txBody><a:bodyPr wrap="square" anchor="t" lIns="18288" rIns="18288" tIns="18288" bIns="18288"/><a:lstStyle/><a:p><a:pPr algn="ctr"/><a:r><a:rPr lang="tr-TR" sz="1020" b="1"><a:solidFill><a:srgbClr val="F8FAFC"/></a:solidFill><a:latin typeface="Aptos"/><a:t>Yüksek güvenli yapısal yol</a:t></a:r><a:endParaRPr lang="tr-TR" sz="1020"/></a:p></p:txBody></p:sp><p:sp><p:nvSpPr><p:cNvPr id="14" name="Text 14"/><p:cNvSpPr txBox="1"/><p:nvPr/></p:nvSpPr><p:spPr><a:xfrm><a:off x="6062472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15" name="Shape 15"/><p:cNvSpPr/><p:nvPr/></p:nvSpPr><p:spPr><a:xfrm><a:off x="6140196" y="1627632"/><a:ext cx="1775460" cy="713232"/></a:xfrm><a:prstGeom prst="roundRect"><a:avLst/></a:prstGeom><a:solidFill><a:srgbClr val="151D32"/></a:solidFill><a:ln w="12700"><a:solidFill><a:srgbClr val="FB718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6176772" y="1700784"/><a:ext cx="1702308" cy="566928"/></a:xfrm><a:prstGeom prst="rect"><a:avLst/></a:prstGeom><a:noFill/><a:ln><a:noFill/></a:ln></p:spPr><p:txBody><a:bodyPr wrap="square" anchor="t" lIns="18288" rIns="18288" tIns="18288" bIns="18288"/><a:lstStyle/><a:p><a:pPr algn="ctr"/><a:r><a:rPr lang="tr-TR" sz="1020" b="1"><a:solidFill><a:srgbClr val="F8FAFC"/></a:solidFill><a:latin typeface="Aptos"/><a:t>Belirsizse isteğe bağlı Qwen adayı</a:t></a:r><a:endParaRPr lang="tr-TR" sz="1020"/></a:p></p:txBody></p:sp><p:sp><p:nvSpPr><p:cNvPr id="17" name="Text 17"/><p:cNvSpPr txBox="1"/><p:nvPr/></p:nvSpPr><p:spPr><a:xfrm><a:off x="7920228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18" name="Shape 18"/><p:cNvSpPr/><p:nvPr/></p:nvSpPr><p:spPr><a:xfrm><a:off x="7997952" y="1627632"/><a:ext cx="1775460" cy="713232"/></a:xfrm><a:prstGeom prst="roundRect"><a:avLst/></a:prstGeom><a:solidFill><a:srgbClr val="151D32"/></a:solidFill><a:ln w="12700"><a:solidFill><a:srgbClr val="22D3EE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Text 19"/><p:cNvSpPr txBox="1"/><p:nvPr/></p:nvSpPr><p:spPr><a:xfrm><a:off x="8034528" y="1700784"/><a:ext cx="1702308" cy="566928"/></a:xfrm><a:prstGeom prst="rect"><a:avLst/></a:prstGeom><a:noFill/><a:ln><a:noFill/></a:ln></p:spPr><p:txBody><a:bodyPr wrap="square" anchor="t" lIns="18288" rIns="18288" tIns="18288" bIns="18288"/><a:lstStyle/><a:p><a:pPr algn="ctr"/><a:r><a:rPr lang="tr-TR" sz="1020" b="1"><a:solidFill><a:srgbClr val="F8FAFC"/></a:solidFill><a:latin typeface="Aptos"/><a:t>Anlam + güvenlik doğrulaması</a:t></a:r><a:endParaRPr lang="tr-TR" sz="1020"/></a:p></p:txBody></p:sp><p:sp><p:nvSpPr><p:cNvPr id="20" name="Text 20"/><p:cNvSpPr txBox="1"/><p:nvPr/></p:nvSpPr><p:spPr><a:xfrm><a:off x="9777984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21" name="Shape 21"/><p:cNvSpPr/><p:nvPr/></p:nvSpPr><p:spPr><a:xfrm><a:off x="9855708" y="1627632"/><a:ext cx="1775460" cy="713232"/></a:xfrm><a:prstGeom prst="roundRect"><a:avLst/></a:prstGeom><a:solidFill><a:srgbClr val="151D32"/></a:solidFill><a:ln w="12700"><a:solidFill><a:srgbClr val="34D399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2" name="Text 22"/><p:cNvSpPr txBox="1"/><p:nvPr/></p:nvSpPr><p:spPr><a:xfrm><a:off x="9892284" y="1700784"/><a:ext cx="1702308" cy="566928"/></a:xfrm><a:prstGeom prst="rect"><a:avLst/></a:prstGeom><a:noFill/><a:ln><a:noFill/></a:ln></p:spPr><p:txBody><a:bodyPr wrap="square" anchor="t" lIns="18288" rIns="18288" tIns="18288" bIns="18288"/><a:lstStyle/><a:p><a:pPr algn="ctr"/><a:r><a:rPr lang="tr-TR" sz="1020" b="1"><a:solidFill><a:srgbClr val="F8FAFC"/></a:solidFill><a:latin typeface="Aptos"/><a:t>Güvenli fallback</a:t></a:r><a:endParaRPr lang="tr-TR" sz="1020"/></a:p></p:txBody></p:sp><p:sp><p:nvSpPr><p:cNvPr id="23" name="Shape 23"/><p:cNvSpPr/><p:nvPr/></p:nvSpPr><p:spPr><a:xfrm><a:off x="566928" y="2743200"/><a:ext cx="5458968" cy="138988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4" name="Shape 24"/><p:cNvSpPr/><p:nvPr/></p:nvSpPr><p:spPr><a:xfrm><a:off x="566928" y="2743200"/><a:ext cx="50292" cy="138988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5" name="Text 25"/><p:cNvSpPr txBox="1"/><p:nvPr/></p:nvSpPr><p:spPr><a:xfrm><a:off x="731520" y="2852928"/><a:ext cx="5184648" cy="274320"/></a:xfrm><a:prstGeom prst="rect"><a:avLst/></a:prstGeom><a:noFill/><a:ln><a:noFill/></a:ln></p:spPr><p:txBody><a:bodyPr wrap="square" anchor="t" lIns="0" rIns="0" tIns="0" bIns="0"/><a:lstStyle/><a:p><a:pPr/><a:r><a:rPr lang="tr-TR" sz="1100" b="1"><a:solidFill><a:srgbClr val="22D3EE"/></a:solidFill><a:latin typeface="Aptos"/><a:t>Hızlı yol</a:t></a:r><a:endParaRPr lang="tr-TR" sz="1100"/></a:p></p:txBody></p:sp><p:sp><p:nvSpPr><p:cNvPr id="26" name="Text 26"/><p:cNvSpPr txBox="1"/><p:nvPr/></p:nvSpPr><p:spPr><a:xfrm><a:off x="731520" y="3200400"/><a:ext cx="5184648" cy="841248"/></a:xfrm><a:prstGeom prst="rect"><a:avLst/></a:prstGeom><a:noFill/><a:ln><a:noFill/></a:ln></p:spPr><p:txBody><a:bodyPr wrap="square" anchor="t" lIns="0" rIns="0" tIns="0" bIns="0"/><a:lstStyle/><a:p><a:pPr/><a:r><a:rPr lang="tr-TR" sz="990"><a:solidFill><a:srgbClr val="F8FAFC"/></a:solidFill><a:latin typeface="Aptos"/><a:t>Zaten yapıcı mesajlar korunur; yüksek güvenli saldırı, sayısal iddia, kaynak eleştirisi, koşullu görüş ve ironi için deterministik dönüşüm kullanılır.</a:t></a:r><a:endParaRPr lang="tr-TR" sz="990"/></a:p></p:txBody></p:sp><p:sp><p:nvSpPr><p:cNvPr id="27" name="Shape 27"/><p:cNvSpPr/><p:nvPr/></p:nvSpPr><p:spPr><a:xfrm><a:off x="6172200" y="2743200"/><a:ext cx="5458968" cy="138988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8" name="Shape 28"/><p:cNvSpPr/><p:nvPr/></p:nvSpPr><p:spPr><a:xfrm><a:off x="6172200" y="2743200"/><a:ext cx="50292" cy="138988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9" name="Text 29"/><p:cNvSpPr txBox="1"/><p:nvPr/></p:nvSpPr><p:spPr><a:xfrm><a:off x="6336792" y="2852928"/><a:ext cx="5184648" cy="274320"/></a:xfrm><a:prstGeom prst="rect"><a:avLst/></a:prstGeom><a:noFill/><a:ln><a:noFill/></a:ln></p:spPr><p:txBody><a:bodyPr wrap="square" anchor="t" lIns="0" rIns="0" tIns="0" bIns="0"/><a:lstStyle/><a:p><a:pPr/><a:r><a:rPr lang="tr-TR" sz="1100" b="1"><a:solidFill><a:srgbClr val="34D399"/></a:solidFill><a:latin typeface="Aptos"/><a:t>Üretken yol</a:t></a:r><a:endParaRPr lang="tr-TR" sz="1100"/></a:p></p:txBody></p:sp><p:sp><p:nvSpPr><p:cNvPr id="30" name="Text 30"/><p:cNvSpPr txBox="1"/><p:nvPr/></p:nvSpPr><p:spPr><a:xfrm><a:off x="6336792" y="3200400"/><a:ext cx="5184648" cy="841248"/></a:xfrm><a:prstGeom prst="rect"><a:avLst/></a:prstGeom><a:noFill/><a:ln><a:noFill/></a:ln></p:spPr><p:txBody><a:bodyPr wrap="square" anchor="t" lIns="0" rIns="0" tIns="0" bIns="0"/><a:lstStyle/><a:p><a:pPr/><a:r><a:rPr lang="tr-TR" sz="990"><a:solidFill><a:srgbClr val="F8FAFC"/></a:solidFill><a:latin typeface="Aptos"/><a:t>Yalnızca yüksek güvenli kuralların kapsamadığı belirsiz durumlarda Qwen/Qwen2.5-0.5B-Instruct aday üretir. Üretken model zorunlu değildir.</a:t></a:r><a:endParaRPr lang="tr-TR" sz="990"/></a:p></p:txBody></p:sp><p:sp><p:nvSpPr><p:cNvPr id="31" name="Shape 31"/><p:cNvSpPr/><p:nvPr/></p:nvSpPr><p:spPr><a:xfrm><a:off x="566928" y="4370832"/><a:ext cx="5458968" cy="138988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2" name="Shape 32"/><p:cNvSpPr/><p:nvPr/></p:nvSpPr><p:spPr><a:xfrm><a:off x="566928" y="4370832"/><a:ext cx="50292" cy="1389888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3" name="Text 33"/><p:cNvSpPr txBox="1"/><p:nvPr/></p:nvSpPr><p:spPr><a:xfrm><a:off x="731520" y="4480560"/><a:ext cx="5184648" cy="274320"/></a:xfrm><a:prstGeom prst="rect"><a:avLst/></a:prstGeom><a:noFill/><a:ln><a:noFill/></a:ln></p:spPr><p:txBody><a:bodyPr wrap="square" anchor="t" lIns="0" rIns="0" tIns="0" bIns="0"/><a:lstStyle/><a:p><a:pPr/><a:r><a:rPr lang="tr-TR" sz="1100" b="1"><a:solidFill><a:srgbClr val="FBBF24"/></a:solidFill><a:latin typeface="Aptos"/><a:t>Son kapı</a:t></a:r><a:endParaRPr lang="tr-TR" sz="1100"/></a:p></p:txBody></p:sp><p:sp><p:nvSpPr><p:cNvPr id="34" name="Text 34"/><p:cNvSpPr txBox="1"/><p:nvPr/></p:nvSpPr><p:spPr><a:xfrm><a:off x="731520" y="4828032"/><a:ext cx="5184648" cy="841248"/></a:xfrm><a:prstGeom prst="rect"><a:avLst/></a:prstGeom><a:noFill/><a:ln><a:noFill/></a:ln></p:spPr><p:txBody><a:bodyPr wrap="square" anchor="t" lIns="0" rIns="0" tIns="0" bIns="0"/><a:lstStyle/><a:p><a:pPr/><a:r><a:rPr lang="tr-TR" sz="990"><a:solidFill><a:srgbClr val="F8FAFC"/></a:solidFill><a:latin typeface="Aptos"/><a:t>Adayın içinde kişisel saldırı, prompt sızıntısı, anlamsız tekrar, kaybolan sayı/soru/kaynak, tersine dönen görüş veya yeni uydurulmuş sonuç varsa aday reddedilir.</a:t></a:r><a:endParaRPr lang="tr-TR" sz="990"/></a:p></p:txBody></p:sp><p:sp><p:nvSpPr><p:cNvPr id="35" name="Text 35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36" name="Text 36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15</a:t></a:r><a:endParaRPr lang="tr-TR" sz="820"/></a:p></p:txBody></p:sp></p:spTree></p:cSld><p:clrMapOvr><a:masterClrMapping/></p:clrMapOvr></p:sld>
</file>

<file path=ppt/slides/slide16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Yanıt Koçu’nda anlamı koruma kuralları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Yumuşatmak, içeriği silmek veya görüşü tersine çevirmek değildir.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Korunan öğeler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Sayılar ve yüzdeler; soru işareti ve soru niyeti; kaynak/kanıt talebi; koşul ve istisnalar; yasaklama/kullanım yönü; sınav bağlamı; ana içerik ankrajları.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Eklenemeyenler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Girişte olmayan istatistik, gerekçe, sonuç, yasaklama veya görüş. Sistem kaynak uydurmaz; kullanıcıyı haklı ilan etmez.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Uzunluk kapısı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Üretken aday en fazla iki kısa doğal cümle hedefler; doğrulama katmanı boş/çok kısa veya gereksiz uzun üretimleri reddeder.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Temiz mesaj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Hakaret, kişiselleştirme, bağlam saldırısı ve ironi yoksa mesaj mümkün olduğunca olduğu gibi bırakılır.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16</a:t></a:r><a:endParaRPr lang="tr-TR" sz="820"/></a:p></p:txBody></p:sp></p:spTree></p:cSld><p:clrMapOvr><a:masterClrMapping/></p:clrMapOvr></p:sld>
</file>

<file path=ppt/slides/slide17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Yanıt Koçu örnekleri: kötü mesajdan yapıcı mesaja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Dönüşümün ölçütü yalnızca nezaket değil; niyet ve somut içeriğin korunmasıdır.</a:t></a:r><a:endParaRPr lang="tr-TR" sz="1020"/></a:p></p:txBody></p:sp><p:sp><p:nvSpPr><p:cNvPr id="6" name="Shape 6"/><p:cNvSpPr/><p:nvPr/></p:nvSpPr><p:spPr><a:xfrm><a:off x="566928" y="1572768"/><a:ext cx="3651199" cy="329184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4218127" y="1572768"/><a:ext cx="7413041" cy="329184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630936" y="1618488"/><a:ext cx="3523183" cy="219456"/></a:xfrm><a:prstGeom prst="rect"><a:avLst/></a:prstGeom><a:noFill/><a:ln><a:noFill/></a:ln></p:spPr><p:txBody><a:bodyPr wrap="square" anchor="t" lIns="0" rIns="0" tIns="0" bIns="0"/><a:lstStyle/><a:p><a:pPr/><a:r><a:rPr lang="tr-TR" sz="1040" b="1"><a:solidFill><a:srgbClr val="22D3EE"/></a:solidFill><a:latin typeface="Aptos"/><a:t>Girdi</a:t></a:r><a:endParaRPr lang="tr-TR" sz="1040"/></a:p></p:txBody></p:sp><p:sp><p:nvSpPr><p:cNvPr id="9" name="Text 9"/><p:cNvSpPr txBox="1"/><p:nvPr/></p:nvSpPr><p:spPr><a:xfrm><a:off x="4282135" y="1618488"/><a:ext cx="7285025" cy="219456"/></a:xfrm><a:prstGeom prst="rect"><a:avLst/></a:prstGeom><a:noFill/><a:ln><a:noFill/></a:ln></p:spPr><p:txBody><a:bodyPr wrap="square" anchor="t" lIns="0" rIns="0" tIns="0" bIns="0"/><a:lstStyle/><a:p><a:pPr/><a:r><a:rPr lang="tr-TR" sz="1040" b="1"><a:solidFill><a:srgbClr val="22D3EE"/></a:solidFill><a:latin typeface="Aptos"/><a:t>Çıktı</a:t></a:r><a:endParaRPr lang="tr-TR" sz="1040"/></a:p></p:txBody></p:sp><p:sp><p:nvSpPr><p:cNvPr id="10" name="Shape 10"/><p:cNvSpPr/><p:nvPr/></p:nvSpPr><p:spPr><a:xfrm><a:off x="566928" y="1901952"/><a:ext cx="3651199" cy="802843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4218127" y="1901952"/><a:ext cx="7413041" cy="802843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0936" y="1929384"/><a:ext cx="3523183" cy="747979"/></a:xfrm><a:prstGeom prst="rect"><a:avLst/></a:prstGeom><a:noFill/><a:ln><a:noFill/></a:ln></p:spPr><p:txBody><a:bodyPr wrap="square" anchor="t" lIns="0" rIns="0" tIns="0" bIns="0"/><a:lstStyle/><a:p><a:pPr/><a:r><a:rPr lang="tr-TR" sz="890"><a:solidFill><a:srgbClr val="FB7185"/></a:solidFill><a:latin typeface="Aptos"/><a:t>“Sen bu konudan hiçbir şey anlamıyorsun.”</a:t></a:r><a:endParaRPr lang="tr-TR" sz="890"/></a:p></p:txBody></p:sp><p:sp><p:nvSpPr><p:cNvPr id="13" name="Text 13"/><p:cNvSpPr txBox="1"/><p:nvPr/></p:nvSpPr><p:spPr><a:xfrm><a:off x="4282135" y="1929384"/><a:ext cx="7285025" cy="747979"/></a:xfrm><a:prstGeom prst="rect"><a:avLst/></a:prstGeom><a:noFill/><a:ln><a:noFill/></a:ln></p:spPr><p:txBody><a:bodyPr wrap="square" anchor="t" lIns="0" rIns="0" tIns="0" bIns="0"/><a:lstStyle/><a:p><a:pPr/><a:r><a:rPr lang="tr-TR" sz="890"><a:solidFill><a:srgbClr val="34D399"/></a:solidFill><a:latin typeface="Aptos"/><a:t>“Bu görüşün gerekçesini yeterince ikna edici bulmuyorum. Dayandığın bilgi veya gerekçeleri daha açık paylaşabilir misin?”</a:t></a:r><a:endParaRPr lang="tr-TR" sz="890"/></a:p></p:txBody></p:sp><p:sp><p:nvSpPr><p:cNvPr id="14" name="Shape 14"/><p:cNvSpPr/><p:nvPr/></p:nvSpPr><p:spPr><a:xfrm><a:off x="566928" y="2704795"/><a:ext cx="3651199" cy="802843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4218127" y="2704795"/><a:ext cx="7413041" cy="802843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630936" y="2732227"/><a:ext cx="3523183" cy="747979"/></a:xfrm><a:prstGeom prst="rect"><a:avLst/></a:prstGeom><a:noFill/><a:ln><a:noFill/></a:ln></p:spPr><p:txBody><a:bodyPr wrap="square" anchor="t" lIns="0" rIns="0" tIns="0" bIns="0"/><a:lstStyle/><a:p><a:pPr/><a:r><a:rPr lang="tr-TR" sz="890"><a:solidFill><a:srgbClr val="FB7185"/></a:solidFill><a:latin typeface="Aptos"/><a:t>“Kaynaklarınla gel, uydurup durma.”</a:t></a:r><a:endParaRPr lang="tr-TR" sz="890"/></a:p></p:txBody></p:sp><p:sp><p:nvSpPr><p:cNvPr id="17" name="Text 17"/><p:cNvSpPr txBox="1"/><p:nvPr/></p:nvSpPr><p:spPr><a:xfrm><a:off x="4282135" y="2732227"/><a:ext cx="7285025" cy="747979"/></a:xfrm><a:prstGeom prst="rect"><a:avLst/></a:prstGeom><a:noFill/><a:ln><a:noFill/></a:ln></p:spPr><p:txBody><a:bodyPr wrap="square" anchor="t" lIns="0" rIns="0" tIns="0" bIns="0"/><a:lstStyle/><a:p><a:pPr/><a:r><a:rPr lang="tr-TR" sz="890"><a:solidFill><a:srgbClr val="34D399"/></a:solidFill><a:latin typeface="Aptos"/><a:t>“Paylaşılan bilgilerin yeterince kaynakla desteklenmediğini düşünüyorum. İddiaları dayandıkları kaynaklarla birlikte paylaşabilir misin?”</a:t></a:r><a:endParaRPr lang="tr-TR" sz="890"/></a:p></p:txBody></p:sp><p:sp><p:nvSpPr><p:cNvPr id="18" name="Shape 18"/><p:cNvSpPr/><p:nvPr/></p:nvSpPr><p:spPr><a:xfrm><a:off x="566928" y="3507638"/><a:ext cx="3651199" cy="802843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4218127" y="3507638"/><a:ext cx="7413041" cy="802843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0936" y="3535070"/><a:ext cx="3523183" cy="747979"/></a:xfrm><a:prstGeom prst="rect"><a:avLst/></a:prstGeom><a:noFill/><a:ln><a:noFill/></a:ln></p:spPr><p:txBody><a:bodyPr wrap="square" anchor="t" lIns="0" rIns="0" tIns="0" bIns="0"/><a:lstStyle/><a:p><a:pPr/><a:r><a:rPr lang="tr-TR" sz="890"><a:solidFill><a:srgbClr val="FB7185"/></a:solidFill><a:latin typeface="Aptos"/><a:t>“Tabii canım, yasaklayınca bütün sorunlar çözülecek zaten.”</a:t></a:r><a:endParaRPr lang="tr-TR" sz="890"/></a:p></p:txBody></p:sp><p:sp><p:nvSpPr><p:cNvPr id="21" name="Text 21"/><p:cNvSpPr txBox="1"/><p:nvPr/></p:nvSpPr><p:spPr><a:xfrm><a:off x="4282135" y="3535070"/><a:ext cx="7285025" cy="747979"/></a:xfrm><a:prstGeom prst="rect"><a:avLst/></a:prstGeom><a:noFill/><a:ln><a:noFill/></a:ln></p:spPr><p:txBody><a:bodyPr wrap="square" anchor="t" lIns="0" rIns="0" tIns="0" bIns="0"/><a:lstStyle/><a:p><a:pPr/><a:r><a:rPr lang="tr-TR" sz="890"><a:solidFill><a:srgbClr val="34D399"/></a:solidFill><a:latin typeface="Aptos"/><a:t>“Yapay zekâyı yasaklamanın tek başına bütün sorunları çözeceğini düşünmüyorum.”</a:t></a:r><a:endParaRPr lang="tr-TR" sz="890"/></a:p></p:txBody></p:sp><p:sp><p:nvSpPr><p:cNvPr id="22" name="Shape 22"/><p:cNvSpPr/><p:nvPr/></p:nvSpPr><p:spPr><a:xfrm><a:off x="566928" y="4310482"/><a:ext cx="3651199" cy="802843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Shape 23"/><p:cNvSpPr/><p:nvPr/></p:nvSpPr><p:spPr><a:xfrm><a:off x="4218127" y="4310482"/><a:ext cx="7413041" cy="802843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4" name="Text 24"/><p:cNvSpPr txBox="1"/><p:nvPr/></p:nvSpPr><p:spPr><a:xfrm><a:off x="630936" y="4337914"/><a:ext cx="3523183" cy="747979"/></a:xfrm><a:prstGeom prst="rect"><a:avLst/></a:prstGeom><a:noFill/><a:ln><a:noFill/></a:ln></p:spPr><p:txBody><a:bodyPr wrap="square" anchor="t" lIns="0" rIns="0" tIns="0" bIns="0"/><a:lstStyle/><a:p><a:pPr/><a:r><a:rPr lang="tr-TR" sz="890"><a:solidFill><a:srgbClr val="FB7185"/></a:solidFill><a:latin typeface="Aptos"/><a:t>“Tamamen yasaklamak yanlış ama sınavlarda kullanım kısıtlanmalı.”</a:t></a:r><a:endParaRPr lang="tr-TR" sz="890"/></a:p></p:txBody></p:sp><p:sp><p:nvSpPr><p:cNvPr id="25" name="Text 25"/><p:cNvSpPr txBox="1"/><p:nvPr/></p:nvSpPr><p:spPr><a:xfrm><a:off x="4282135" y="4337914"/><a:ext cx="7285025" cy="747979"/></a:xfrm><a:prstGeom prst="rect"><a:avLst/></a:prstGeom><a:noFill/><a:ln><a:noFill/></a:ln></p:spPr><p:txBody><a:bodyPr wrap="square" anchor="t" lIns="0" rIns="0" tIns="0" bIns="0"/><a:lstStyle/><a:p><a:pPr/><a:r><a:rPr lang="tr-TR" sz="890"><a:solidFill><a:srgbClr val="34D399"/></a:solidFill><a:latin typeface="Aptos"/><a:t>Aynı koşullu görüş korunur; tek taraflı destek veya karşıtlığa çevrilmez.</a:t></a:r><a:endParaRPr lang="tr-TR" sz="890"/></a:p></p:txBody></p:sp><p:sp><p:nvSpPr><p:cNvPr id="26" name="Shape 26"/><p:cNvSpPr/><p:nvPr/></p:nvSpPr><p:spPr><a:xfrm><a:off x="566928" y="5113325"/><a:ext cx="3651199" cy="802843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7" name="Shape 27"/><p:cNvSpPr/><p:nvPr/></p:nvSpPr><p:spPr><a:xfrm><a:off x="4218127" y="5113325"/><a:ext cx="7413041" cy="802843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8" name="Text 28"/><p:cNvSpPr txBox="1"/><p:nvPr/></p:nvSpPr><p:spPr><a:xfrm><a:off x="630936" y="5140757"/><a:ext cx="3523183" cy="747979"/></a:xfrm><a:prstGeom prst="rect"><a:avLst/></a:prstGeom><a:noFill/><a:ln><a:noFill/></a:ln></p:spPr><p:txBody><a:bodyPr wrap="square" anchor="t" lIns="0" rIns="0" tIns="0" bIns="0"/><a:lstStyle/><a:p><a:pPr/><a:r><a:rPr lang="tr-TR" sz="890"><a:solidFill><a:srgbClr val="FB7185"/></a:solidFill><a:latin typeface="Aptos"/><a:t>“Geçen dönem öğrencilerin %70’i kullandı.”</a:t></a:r><a:endParaRPr lang="tr-TR" sz="890"/></a:p></p:txBody></p:sp><p:sp><p:nvSpPr><p:cNvPr id="29" name="Text 29"/><p:cNvSpPr txBox="1"/><p:nvPr/></p:nvSpPr><p:spPr><a:xfrm><a:off x="4282135" y="5140757"/><a:ext cx="7285025" cy="747979"/></a:xfrm><a:prstGeom prst="rect"><a:avLst/></a:prstGeom><a:noFill/><a:ln><a:noFill/></a:ln></p:spPr><p:txBody><a:bodyPr wrap="square" anchor="t" lIns="0" rIns="0" tIns="0" bIns="0"/><a:lstStyle/><a:p><a:pPr/><a:r><a:rPr lang="tr-TR" sz="890"><a:solidFill><a:srgbClr val="34D399"/></a:solidFill><a:latin typeface="Aptos"/><a:t>“Geçen dönem öğrencilerin %70’i kullandı. Bu bilginin dayandığı kaynak veya araştırmayı paylaşabilir misin?”</a:t></a:r><a:endParaRPr lang="tr-TR" sz="890"/></a:p></p:txBody></p:sp><p:sp><p:nvSpPr><p:cNvPr id="30" name="Text 30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31" name="Text 31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17</a:t></a:r><a:endParaRPr lang="tr-TR" sz="820"/></a:p></p:txBody></p:sp></p:spTree></p:cSld><p:clrMapOvr><a:masterClrMapping/></p:clrMapOvr></p:sld>
</file>

<file path=ppt/slides/slide18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Yanıt Koçu test ve performans kanıtı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Test sonucu ile gerçek model çalıştırma durumunu birbirine karıştırmıyoruz.</a:t></a:r><a:endParaRPr lang="tr-TR" sz="1020"/></a:p></p:txBody></p:sp><p:sp><p:nvSpPr><p:cNvPr id="6" name="Shape 6"/><p:cNvSpPr/><p:nvPr/></p:nvSpPr><p:spPr><a:xfrm><a:off x="566928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v0.4.4 raporundaki test</a:t></a:r><a:endParaRPr lang="tr-TR" sz="1170"/></a:p></p:txBody></p:sp><p:sp><p:nvSpPr><p:cNvPr id="9" name="Text 9"/><p:cNvSpPr txBox="1"/><p:nvPr/></p:nvSpPr><p:spPr><a:xfrm><a:off x="731520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29/29 regresyon başarılı; 552 senaryo kontrolü; API sözleşmesi ve FastAPI /health + /api/rewrite TestClient kontrolü başarılı.</a:t></a:r><a:endParaRPr lang="tr-TR" sz="1060"/></a:p></p:txBody></p:sp><p:sp><p:nvSpPr><p:cNvPr id="10" name="Shape 10"/><p:cNvSpPr/><p:nvPr/></p:nvSpPr><p:spPr><a:xfrm><a:off x="4303776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4303776" y="1572768"/><a:ext cx="50292" cy="193852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4468368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34D399"/></a:solidFill><a:latin typeface="Aptos"/><a:t>Kapsam</a:t></a:r><a:endParaRPr lang="tr-TR" sz="1170"/></a:p></p:txBody></p:sp><p:sp><p:nvSpPr><p:cNvPr id="13" name="Text 13"/><p:cNvSpPr txBox="1"/><p:nvPr/></p:nvSpPr><p:spPr><a:xfrm><a:off x="4468368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96 saldırı × içerik güvenlik matrisi; 300 sabit tohumlu fuzz; 40 ironi × konu; 12 koşullu/dengeli görüş; 36 normal/olumlu ifade. Normal ifadelerde yanlış ironi pozitifliği: 0.</a:t></a:r><a:endParaRPr lang="tr-TR" sz="1060"/></a:p></p:txBody></p:sp><p:sp><p:nvSpPr><p:cNvPr id="14" name="Shape 14"/><p:cNvSpPr/><p:nvPr/></p:nvSpPr><p:spPr><a:xfrm><a:off x="8040624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8040624" y="1572768"/><a:ext cx="50292" cy="1938528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8205216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BF24"/></a:solidFill><a:latin typeface="Aptos"/><a:t>Benchmark</a:t></a:r><a:endParaRPr lang="tr-TR" sz="1170"/></a:p></p:txBody></p:sp><p:sp><p:nvSpPr><p:cNvPr id="17" name="Text 17"/><p:cNvSpPr txBox="1"/><p:nvPr/></p:nvSpPr><p:spPr><a:xfrm><a:off x="8205216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1.000 çağrı: ortalama 0,366 ms · medyan 0,340 ms · P95 0,587 ms · maksimum 3,940 ms. Değerler test ortamına aittir.</a:t></a:r><a:endParaRPr lang="tr-TR" sz="1060"/></a:p></p:txBody></p:sp><p:sp><p:nvSpPr><p:cNvPr id="18" name="Shape 18"/><p:cNvSpPr/><p:nvPr/></p:nvSpPr><p:spPr><a:xfrm><a:off x="566928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566928" y="3685032"/><a:ext cx="50292" cy="1938528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731520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7185"/></a:solidFill><a:latin typeface="Aptos"/><a:t>Dürüst not</a:t></a:r><a:endParaRPr lang="tr-TR" sz="1170"/></a:p></p:txBody></p:sp><p:sp><p:nvSpPr><p:cNvPr id="21" name="Text 21"/><p:cNvSpPr txBox="1"/><p:nvPr/></p:nvSpPr><p:spPr><a:xfrm><a:off x="731520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Test ortamında gerçek Qwen ağırlıkları yeniden indirilemediği için canlı üretken inference sonucu iddia edilmiyor; deterministik yol, kötü adayın reddi ve güvenli fallback test edildi.</a:t></a:r><a:endParaRPr lang="tr-TR" sz="1060"/></a:p></p:txBody></p:sp><p:sp><p:nvSpPr><p:cNvPr id="22" name="Shape 22"/><p:cNvSpPr/><p:nvPr/></p:nvSpPr><p:spPr><a:xfrm><a:off x="4303776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Shape 23"/><p:cNvSpPr/><p:nvPr/></p:nvSpPr><p:spPr><a:xfrm><a:off x="4303776" y="3685032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4" name="Text 24"/><p:cNvSpPr txBox="1"/><p:nvPr/></p:nvSpPr><p:spPr><a:xfrm><a:off x="4468368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Final hazırlığı</a:t></a:r><a:endParaRPr lang="tr-TR" sz="1170"/></a:p></p:txBody></p:sp><p:sp><p:nvSpPr><p:cNvPr id="25" name="Text 25"/><p:cNvSpPr txBox="1"/><p:nvPr/></p:nvSpPr><p:spPr><a:xfrm><a:off x="4468368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Çalışma notlarında ayrıca 34/34 Yanıt Koçu regresyonu ve 743 senaryo kontrolü tutuldu; bu sayı raporun 29/29 baseline’ı ile tek toplam olarak birleştirilmemelidir.</a:t></a:r><a:endParaRPr lang="tr-TR" sz="1060"/></a:p></p:txBody></p:sp><p:sp><p:nvSpPr><p:cNvPr id="26" name="Text 26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7" name="Text 27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18</a:t></a:r><a:endParaRPr lang="tr-TR" sz="820"/></a:p></p:txBody></p:sp></p:spTree></p:cSld><p:clrMapOvr><a:masterClrMapping/></p:clrMapOvr></p:sld>
</file>

<file path=ppt/slides/slide19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Modül 7 · Ben Yokken Ne Değişti?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Kullanıcı geri döndüğünde yalnızca “yeni bildirim var” demek yerine ölçülebilir değişikliği gösterir.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Snapshot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Her analiz sonucu geçmişte ayrı bir anlık görüntü olarak saklanır; önceki sonuçla karşılaştırılabilir.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Karşılaştırılanlar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Görüş dağılımı, yeni veya kaybolan iddia adayları, soru durumu, ortak zemin, temel ayrışma ve köprü sorusu.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Bildirim ilkesi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İçerik tabanlı olay kimliği kullanılır. Ölçülebilir değişiklik yoksa yeni bildirim üretilmez; aynı olay tekrar tekrar bildirilmez.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Geri alınabilirlik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Bildirimler soft-delete mantığıyla silinir; silinen bildirimler yeniden üretim davranışıyla karışmaz ve geri yükleme akışı bulunur.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19</a:t></a:r><a:endParaRPr lang="tr-TR" sz="820"/></a:p></p:txBody></p:sp></p:spTree></p:cSld><p:clrMapOvr><a:masterClrMapping/></p:clrMapOvr></p:sld>
</file>

<file path=ppt/slides/slide20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Modül 8 · Köprü Oluştur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Tartışmayı bitiren hüküm değil; bir sonraki yapıcı konuşmayı açan çıktı.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Girdiler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Ortak zemin, temel ayrışma, kaynak/kanıt ihtiyacı ve cevapsız sorular.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Üç parçalı çıktı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Ortak payda · karşı tarafın kaygısını kişiselleştirmeden tanıma · kanıt + ilerleten soru.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Sınır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Köprü, iki tarafı aynı fikirde göstermez; kullanıcıdan görüşünü değiştirmesini istemez; hangi sorunun yanıtlanmasının ilerleme sağlayacağını önerir.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Teknik kural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Köprü sorusu en fazla 28 kelimeyle sınırlandırılır; ilgili görüş ve iddia kimlikleriyle ilişkilendirilir.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20</a:t></a:r><a:endParaRPr lang="tr-TR" sz="820"/></a:p></p:txBody></p:sp></p:spTree></p:cSld><p:clrMapOvr><a:masterClrMapping/></p:clrMapOvr></p:sld>
</file>

<file path=ppt/slides/slide21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Ürün yüzeyi: analiz tek ekranda kalmıyor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Analiz sonucu kullanıcı akışına ve tekrar ziyarete bağlanıyor.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Gezinme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Ana Sayfa · Keşfet · Bildirimler · Mesajlar · Yer İmleri · Listeler · Profil · Teknik Doğrulama.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Kaydetme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Kullanıcı tartışmayı, belirli bir iddia adayını veya Köprü sorusunu yer imlerine alabilir; içerikleri konu listelerine ekleyebilir.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Süreklilik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Analiz geçmişi ve snapshot ayrıntısı yeniden açılır; mesajlar ve köprü paylaşımı tartışma akışına bağlanır.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Şeffaflık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Teknik Doğrulama ekranı veri setini, beklenen/gerçek sınıfları, hataları, zorluk kırılımını ve ölçüm durumunu ayrı gösterir.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21</a:t></a:r><a:endParaRPr lang="tr-TR" sz="820"/></a:p></p:txBody></p:sp></p:spTree></p:cSld><p:clrMapOvr><a:masterClrMapping/></p:clrMapOvr></p:sld>
</file>

<file path=ppt/slides/slide22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Teknik mimari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Yerel çalışabilen, katmanları ayrılmış ve dış LLM’e zorunlu olmayan yapı.</a:t></a:r><a:endParaRPr lang="tr-TR" sz="1020"/></a:p></p:txBody></p:sp><p:sp><p:nvSpPr><p:cNvPr id="6" name="Shape 6"/><p:cNvSpPr/><p:nvPr/></p:nvSpPr><p:spPr><a:xfrm><a:off x="566928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İstemci</a:t></a:r><a:endParaRPr lang="tr-TR" sz="1170"/></a:p></p:txBody></p:sp><p:sp><p:nvSpPr><p:cNvPr id="9" name="Text 9"/><p:cNvSpPr txBox="1"/><p:nvPr/></p:nvSpPr><p:spPr><a:xfrm><a:off x="731520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Next.js 15 · React 19 · TypeScript. Kullanıcı akışı, sekiz analiz adımı, teknik doğrulama ve kalıcı ürün sayfaları.</a:t></a:r><a:endParaRPr lang="tr-TR" sz="1060"/></a:p></p:txBody></p:sp><p:sp><p:nvSpPr><p:cNvPr id="10" name="Shape 10"/><p:cNvSpPr/><p:nvPr/></p:nvSpPr><p:spPr><a:xfrm><a:off x="4303776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4303776" y="1572768"/><a:ext cx="50292" cy="193852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4468368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34D399"/></a:solidFill><a:latin typeface="Aptos"/><a:t>API</a:t></a:r><a:endParaRPr lang="tr-TR" sz="1170"/></a:p></p:txBody></p:sp><p:sp><p:nvSpPr><p:cNvPr id="13" name="Text 13"/><p:cNvSpPr txBox="1"/><p:nvPr/></p:nvSpPr><p:spPr><a:xfrm><a:off x="4468368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FastAPI · Pydantic · Uvicorn. İstek doğrulama, analiz çağrısı, model durumları, geçmiş, bildirim, mesaj, yer imi ve liste uç noktaları.</a:t></a:r><a:endParaRPr lang="tr-TR" sz="1060"/></a:p></p:txBody></p:sp><p:sp><p:nvSpPr><p:cNvPr id="14" name="Shape 14"/><p:cNvSpPr/><p:nvPr/></p:nvSpPr><p:spPr><a:xfrm><a:off x="8040624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8040624" y="1572768"/><a:ext cx="50292" cy="1938528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8205216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BF24"/></a:solidFill><a:latin typeface="Aptos"/><a:t>Analiz</a:t></a:r><a:endParaRPr lang="tr-TR" sz="1170"/></a:p></p:txBody></p:sp><p:sp><p:nvSpPr><p:cNvPr id="17" name="Text 17"/><p:cNvSpPr txBox="1"/><p:nvPr/></p:nvSpPr><p:spPr><a:xfrm><a:off x="8205216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Türkçe yapısal sinyaller + isteğe bağlı MoritzLaurer/mDeBERTa-v3-base-mnli-xnli. Yanıt Koçu için ayrı ve isteğe bağlı Qwen/Qwen2.5-0.5B-Instruct.</a:t></a:r><a:endParaRPr lang="tr-TR" sz="1060"/></a:p></p:txBody></p:sp><p:sp><p:nvSpPr><p:cNvPr id="18" name="Shape 18"/><p:cNvSpPr/><p:nvPr/></p:nvSpPr><p:spPr><a:xfrm><a:off x="566928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566928" y="3685032"/><a:ext cx="50292" cy="1938528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731520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7185"/></a:solidFill><a:latin typeface="Aptos"/><a:t>Kalıcılık</a:t></a:r><a:endParaRPr lang="tr-TR" sz="1170"/></a:p></p:txBody></p:sp><p:sp><p:nvSpPr><p:cNvPr id="21" name="Text 21"/><p:cNvSpPr txBox="1"/><p:nvPr/></p:nvSpPr><p:spPr><a:xfrm><a:off x="731520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SQLite; analiz snapshot’ları, app_meta sonuçları, olay parmak izleri ve iddia önbelleği.</a:t></a:r><a:endParaRPr lang="tr-TR" sz="1060"/></a:p></p:txBody></p:sp><p:sp><p:nvSpPr><p:cNvPr id="22" name="Shape 22"/><p:cNvSpPr/><p:nvPr/></p:nvSpPr><p:spPr><a:xfrm><a:off x="4303776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Shape 23"/><p:cNvSpPr/><p:nvPr/></p:nvSpPr><p:spPr><a:xfrm><a:off x="4303776" y="3685032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4" name="Text 24"/><p:cNvSpPr txBox="1"/><p:nvPr/></p:nvSpPr><p:spPr><a:xfrm><a:off x="4468368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Çalışma koşulu</a:t></a:r><a:endParaRPr lang="tr-TR" sz="1170"/></a:p></p:txBody></p:sp><p:sp><p:nvSpPr><p:cNvPr id="25" name="Text 25"/><p:cNvSpPr txBox="1"/><p:nvPr/></p:nvSpPr><p:spPr><a:xfrm><a:off x="4468368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CPU üzerinde çalışır; uyumlu GPU hızlandırması opsiyoneldir. Dış API veya ücretli token servisi zorunlu değildir.</a:t></a:r><a:endParaRPr lang="tr-TR" sz="1060"/></a:p></p:txBody></p:sp><p:sp><p:nvSpPr><p:cNvPr id="26" name="Text 26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7" name="Text 27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22</a:t></a:r><a:endParaRPr lang="tr-TR" sz="820"/></a:p></p:txBody></p:sp></p:spTree></p:cSld><p:clrMapOvr><a:masterClrMapping/></p:clrMapOvr></p:sld>
</file>

<file path=ppt/slides/slide23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Arka uç analiz hattı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Tek bir sonuç nesnesi, analiz adımlarının birbirine bağlı çıktısını taşır.</a:t></a:r><a:endParaRPr lang="tr-TR" sz="1020"/></a:p></p:txBody></p:sp><p:sp><p:nvSpPr><p:cNvPr id="6" name="Shape 6"/><p:cNvSpPr/><p:nvPr/></p:nvSpPr><p:spPr><a:xfrm><a:off x="566928" y="1627632"/><a:ext cx="1311021" cy="713232"/></a:xfrm><a:prstGeom prst="roundRect"><a:avLst/></a:prstGeom><a:solidFill><a:srgbClr val="151D32"/></a:solidFill><a:ln w="12700"><a:solidFill><a:srgbClr val="22D3EE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Text 7"/><p:cNvSpPr txBox="1"/><p:nvPr/></p:nvSpPr><p:spPr><a:xfrm><a:off x="603504" y="1700784"/><a:ext cx="1237869" cy="566928"/></a:xfrm><a:prstGeom prst="rect"><a:avLst/></a:prstGeom><a:noFill/><a:ln><a:noFill/></a:ln></p:spPr><p:txBody><a:bodyPr wrap="square" anchor="t" lIns="18288" rIns="18288" tIns="18288" bIns="18288"/><a:lstStyle/><a:p><a:pPr algn="ctr"/><a:r><a:rPr lang="tr-TR" sz="860" b="1"><a:solidFill><a:srgbClr val="F8FAFC"/></a:solidFill><a:latin typeface="Aptos"/><a:t>İstek + Pydantic</a:t></a:r><a:endParaRPr lang="tr-TR" sz="860"/></a:p></p:txBody></p:sp><p:sp><p:nvSpPr><p:cNvPr id="8" name="Text 8"/><p:cNvSpPr txBox="1"/><p:nvPr/></p:nvSpPr><p:spPr><a:xfrm><a:off x="1882521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9" name="Shape 9"/><p:cNvSpPr/><p:nvPr/></p:nvSpPr><p:spPr><a:xfrm><a:off x="1960245" y="1627632"/><a:ext cx="1311021" cy="713232"/></a:xfrm><a:prstGeom prst="roundRect"><a:avLst/></a:prstGeom><a:solidFill><a:srgbClr val="151D32"/></a:solidFill><a:ln w="12700"><a:solidFill><a:srgbClr val="34D399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0" name="Text 10"/><p:cNvSpPr txBox="1"/><p:nvPr/></p:nvSpPr><p:spPr><a:xfrm><a:off x="1996821" y="1700784"/><a:ext cx="1237869" cy="566928"/></a:xfrm><a:prstGeom prst="rect"><a:avLst/></a:prstGeom><a:noFill/><a:ln><a:noFill/></a:ln></p:spPr><p:txBody><a:bodyPr wrap="square" anchor="t" lIns="18288" rIns="18288" tIns="18288" bIns="18288"/><a:lstStyle/><a:p><a:pPr algn="ctr"/><a:r><a:rPr lang="tr-TR" sz="860" b="1"><a:solidFill><a:srgbClr val="F8FAFC"/></a:solidFill><a:latin typeface="Aptos"/><a:t>Tekilleştirme</a:t></a:r><a:endParaRPr lang="tr-TR" sz="860"/></a:p></p:txBody></p:sp><p:sp><p:nvSpPr><p:cNvPr id="11" name="Text 11"/><p:cNvSpPr txBox="1"/><p:nvPr/></p:nvSpPr><p:spPr><a:xfrm><a:off x="3275838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12" name="Shape 12"/><p:cNvSpPr/><p:nvPr/></p:nvSpPr><p:spPr><a:xfrm><a:off x="3353562" y="1627632"/><a:ext cx="1311021" cy="713232"/></a:xfrm><a:prstGeom prst="roundRect"><a:avLst/></a:prstGeom><a:solidFill><a:srgbClr val="151D32"/></a:solidFill><a:ln w="12700"><a:solidFill><a:srgbClr val="FBBF24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3" name="Text 13"/><p:cNvSpPr txBox="1"/><p:nvPr/></p:nvSpPr><p:spPr><a:xfrm><a:off x="3390138" y="1700784"/><a:ext cx="1237869" cy="566928"/></a:xfrm><a:prstGeom prst="rect"><a:avLst/></a:prstGeom><a:noFill/><a:ln><a:noFill/></a:ln></p:spPr><p:txBody><a:bodyPr wrap="square" anchor="t" lIns="18288" rIns="18288" tIns="18288" bIns="18288"/><a:lstStyle/><a:p><a:pPr algn="ctr"/><a:r><a:rPr lang="tr-TR" sz="860" b="1"><a:solidFill><a:srgbClr val="F8FAFC"/></a:solidFill><a:latin typeface="Aptos"/><a:t>Görüş sınıflandırma</a:t></a:r><a:endParaRPr lang="tr-TR" sz="860"/></a:p></p:txBody></p:sp><p:sp><p:nvSpPr><p:cNvPr id="14" name="Text 14"/><p:cNvSpPr txBox="1"/><p:nvPr/></p:nvSpPr><p:spPr><a:xfrm><a:off x="4669155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15" name="Shape 15"/><p:cNvSpPr/><p:nvPr/></p:nvSpPr><p:spPr><a:xfrm><a:off x="4746879" y="1627632"/><a:ext cx="1311021" cy="713232"/></a:xfrm><a:prstGeom prst="roundRect"><a:avLst/></a:prstGeom><a:solidFill><a:srgbClr val="151D32"/></a:solidFill><a:ln w="12700"><a:solidFill><a:srgbClr val="FB718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4783455" y="1700784"/><a:ext cx="1237869" cy="566928"/></a:xfrm><a:prstGeom prst="rect"><a:avLst/></a:prstGeom><a:noFill/><a:ln><a:noFill/></a:ln></p:spPr><p:txBody><a:bodyPr wrap="square" anchor="t" lIns="18288" rIns="18288" tIns="18288" bIns="18288"/><a:lstStyle/><a:p><a:pPr algn="ctr"/><a:r><a:rPr lang="tr-TR" sz="860" b="1"><a:solidFill><a:srgbClr val="F8FAFC"/></a:solidFill><a:latin typeface="Aptos"/><a:t>İddia + önbellek</a:t></a:r><a:endParaRPr lang="tr-TR" sz="860"/></a:p></p:txBody></p:sp><p:sp><p:nvSpPr><p:cNvPr id="17" name="Text 17"/><p:cNvSpPr txBox="1"/><p:nvPr/></p:nvSpPr><p:spPr><a:xfrm><a:off x="6062472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18" name="Shape 18"/><p:cNvSpPr/><p:nvPr/></p:nvSpPr><p:spPr><a:xfrm><a:off x="6140196" y="1627632"/><a:ext cx="1311021" cy="713232"/></a:xfrm><a:prstGeom prst="roundRect"><a:avLst/></a:prstGeom><a:solidFill><a:srgbClr val="151D32"/></a:solidFill><a:ln w="12700"><a:solidFill><a:srgbClr val="22D3EE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Text 19"/><p:cNvSpPr txBox="1"/><p:nvPr/></p:nvSpPr><p:spPr><a:xfrm><a:off x="6176772" y="1700784"/><a:ext cx="1237869" cy="566928"/></a:xfrm><a:prstGeom prst="rect"><a:avLst/></a:prstGeom><a:noFill/><a:ln><a:noFill/></a:ln></p:spPr><p:txBody><a:bodyPr wrap="square" anchor="t" lIns="18288" rIns="18288" tIns="18288" bIns="18288"/><a:lstStyle/><a:p><a:pPr algn="ctr"/><a:r><a:rPr lang="tr-TR" sz="860" b="1"><a:solidFill><a:srgbClr val="F8FAFC"/></a:solidFill><a:latin typeface="Aptos"/><a:t>Soru analizi</a:t></a:r><a:endParaRPr lang="tr-TR" sz="860"/></a:p></p:txBody></p:sp><p:sp><p:nvSpPr><p:cNvPr id="20" name="Text 20"/><p:cNvSpPr txBox="1"/><p:nvPr/></p:nvSpPr><p:spPr><a:xfrm><a:off x="7455789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21" name="Shape 21"/><p:cNvSpPr/><p:nvPr/></p:nvSpPr><p:spPr><a:xfrm><a:off x="7533513" y="1627632"/><a:ext cx="1311021" cy="713232"/></a:xfrm><a:prstGeom prst="roundRect"><a:avLst/></a:prstGeom><a:solidFill><a:srgbClr val="151D32"/></a:solidFill><a:ln w="12700"><a:solidFill><a:srgbClr val="34D399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2" name="Text 22"/><p:cNvSpPr txBox="1"/><p:nvPr/></p:nvSpPr><p:spPr><a:xfrm><a:off x="7570089" y="1700784"/><a:ext cx="1237869" cy="566928"/></a:xfrm><a:prstGeom prst="rect"><a:avLst/></a:prstGeom><a:noFill/><a:ln><a:noFill/></a:ln></p:spPr><p:txBody><a:bodyPr wrap="square" anchor="t" lIns="18288" rIns="18288" tIns="18288" bIns="18288"/><a:lstStyle/><a:p><a:pPr algn="ctr"/><a:r><a:rPr lang="tr-TR" sz="860" b="1"><a:solidFill><a:srgbClr val="F8FAFC"/></a:solidFill><a:latin typeface="Aptos"/><a:t>Ortak zemin + viewpoint</a:t></a:r><a:endParaRPr lang="tr-TR" sz="860"/></a:p></p:txBody></p:sp><p:sp><p:nvSpPr><p:cNvPr id="23" name="Text 23"/><p:cNvSpPr txBox="1"/><p:nvPr/></p:nvSpPr><p:spPr><a:xfrm><a:off x="8849106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24" name="Shape 24"/><p:cNvSpPr/><p:nvPr/></p:nvSpPr><p:spPr><a:xfrm><a:off x="8926830" y="1627632"/><a:ext cx="1311021" cy="713232"/></a:xfrm><a:prstGeom prst="roundRect"><a:avLst/></a:prstGeom><a:solidFill><a:srgbClr val="151D32"/></a:solidFill><a:ln w="12700"><a:solidFill><a:srgbClr val="FBBF24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5" name="Text 25"/><p:cNvSpPr txBox="1"/><p:nvPr/></p:nvSpPr><p:spPr><a:xfrm><a:off x="8963406" y="1700784"/><a:ext cx="1237869" cy="566928"/></a:xfrm><a:prstGeom prst="rect"><a:avLst/></a:prstGeom><a:noFill/><a:ln><a:noFill/></a:ln></p:spPr><p:txBody><a:bodyPr wrap="square" anchor="t" lIns="18288" rIns="18288" tIns="18288" bIns="18288"/><a:lstStyle/><a:p><a:pPr algn="ctr"/><a:r><a:rPr lang="tr-TR" sz="860" b="1"><a:solidFill><a:srgbClr val="F8FAFC"/></a:solidFill><a:latin typeface="Aptos"/><a:t>Köprü + snapshot</a:t></a:r><a:endParaRPr lang="tr-TR" sz="860"/></a:p></p:txBody></p:sp><p:sp><p:nvSpPr><p:cNvPr id="26" name="Text 26"/><p:cNvSpPr txBox="1"/><p:nvPr/></p:nvSpPr><p:spPr><a:xfrm><a:off x="10242423" y="1892808"/><a:ext cx="73152" cy="182880"/></a:xfrm><a:prstGeom prst="rect"><a:avLst/></a:prstGeom><a:noFill/><a:ln><a:noFill/></a:ln></p:spPr><p:txBody><a:bodyPr wrap="square" anchor="t" lIns="0" rIns="0" tIns="0" bIns="0"/><a:lstStyle/><a:p><a:pPr algn="ctr"/><a:r><a:rPr lang="tr-TR" sz="1200" b="1"><a:solidFill><a:srgbClr val="22D3EE"/></a:solidFill><a:latin typeface="Aptos"/><a:t>→</a:t></a:r><a:endParaRPr lang="tr-TR" sz="1200"/></a:p></p:txBody></p:sp><p:sp><p:nvSpPr><p:cNvPr id="27" name="Shape 27"/><p:cNvSpPr/><p:nvPr/></p:nvSpPr><p:spPr><a:xfrm><a:off x="10320147" y="1627632"/><a:ext cx="1311021" cy="713232"/></a:xfrm><a:prstGeom prst="roundRect"><a:avLst/></a:prstGeom><a:solidFill><a:srgbClr val="151D32"/></a:solidFill><a:ln w="12700"><a:solidFill><a:srgbClr val="FB718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8" name="Text 28"/><p:cNvSpPr txBox="1"/><p:nvPr/></p:nvSpPr><p:spPr><a:xfrm><a:off x="10356723" y="1700784"/><a:ext cx="1237869" cy="566928"/></a:xfrm><a:prstGeom prst="rect"><a:avLst/></a:prstGeom><a:noFill/><a:ln><a:noFill/></a:ln></p:spPr><p:txBody><a:bodyPr wrap="square" anchor="t" lIns="18288" rIns="18288" tIns="18288" bIns="18288"/><a:lstStyle/><a:p><a:pPr algn="ctr"/><a:r><a:rPr lang="tr-TR" sz="860" b="1"><a:solidFill><a:srgbClr val="F8FAFC"/></a:solidFill><a:latin typeface="Aptos"/><a:t>Bildirim / geçmiş</a:t></a:r><a:endParaRPr lang="tr-TR" sz="860"/></a:p></p:txBody></p:sp><p:sp><p:nvSpPr><p:cNvPr id="29" name="Shape 29"/><p:cNvSpPr/><p:nvPr/></p:nvSpPr><p:spPr><a:xfrm><a:off x="566928" y="2743200"/><a:ext cx="5458968" cy="138988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0" name="Shape 30"/><p:cNvSpPr/><p:nvPr/></p:nvSpPr><p:spPr><a:xfrm><a:off x="566928" y="2743200"/><a:ext cx="50292" cy="138988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1" name="Text 31"/><p:cNvSpPr txBox="1"/><p:nvPr/></p:nvSpPr><p:spPr><a:xfrm><a:off x="731520" y="2852928"/><a:ext cx="5184648" cy="274320"/></a:xfrm><a:prstGeom prst="rect"><a:avLst/></a:prstGeom><a:noFill/><a:ln><a:noFill/></a:ln></p:spPr><p:txBody><a:bodyPr wrap="square" anchor="t" lIns="0" rIns="0" tIns="0" bIns="0"/><a:lstStyle/><a:p><a:pPr/><a:r><a:rPr lang="tr-TR" sz="1100" b="1"><a:solidFill><a:srgbClr val="22D3EE"/></a:solidFill><a:latin typeface="Aptos"/><a:t>Ana analiz</a:t></a:r><a:endParaRPr lang="tr-TR" sz="1100"/></a:p></p:txBody></p:sp><p:sp><p:nvSpPr><p:cNvPr id="32" name="Text 32"/><p:cNvSpPr txBox="1"/><p:nvPr/></p:nvSpPr><p:spPr><a:xfrm><a:off x="731520" y="3200400"/><a:ext cx="5184648" cy="841248"/></a:xfrm><a:prstGeom prst="rect"><a:avLst/></a:prstGeom><a:noFill/><a:ln><a:noFill/></a:ln></p:spPr><p:txBody><a:bodyPr wrap="square" anchor="t" lIns="0" rIns="0" tIns="0" bIns="0"/><a:lstStyle/><a:p><a:pPr/><a:r><a:rPr lang="tr-TR" sz="990"><a:solidFill><a:srgbClr val="F8FAFC"/></a:solidFill><a:latin typeface="Aptos"/><a:t>analyze_post; görüş ayrıntıları, ortak zemin ayrıntıları, görüş kümeleri, iddia adayları, açık/retorik sorular, değişiklikler ve köprü çıktısını birleştirir.</a:t></a:r><a:endParaRPr lang="tr-TR" sz="990"/></a:p></p:txBody></p:sp><p:sp><p:nvSpPr><p:cNvPr id="33" name="Shape 33"/><p:cNvSpPr/><p:nvPr/></p:nvSpPr><p:spPr><a:xfrm><a:off x="6172200" y="2743200"/><a:ext cx="5458968" cy="138988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4" name="Shape 34"/><p:cNvSpPr/><p:nvPr/></p:nvSpPr><p:spPr><a:xfrm><a:off x="6172200" y="2743200"/><a:ext cx="50292" cy="138988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5" name="Text 35"/><p:cNvSpPr txBox="1"/><p:nvPr/></p:nvSpPr><p:spPr><a:xfrm><a:off x="6336792" y="2852928"/><a:ext cx="5184648" cy="274320"/></a:xfrm><a:prstGeom prst="rect"><a:avLst/></a:prstGeom><a:noFill/><a:ln><a:noFill/></a:ln></p:spPr><p:txBody><a:bodyPr wrap="square" anchor="t" lIns="0" rIns="0" tIns="0" bIns="0"/><a:lstStyle/><a:p><a:pPr/><a:r><a:rPr lang="tr-TR" sz="1100" b="1"><a:solidFill><a:srgbClr val="34D399"/></a:solidFill><a:latin typeface="Aptos"/><a:t>İzlenebilirlik</a:t></a:r><a:endParaRPr lang="tr-TR" sz="1100"/></a:p></p:txBody></p:sp><p:sp><p:nvSpPr><p:cNvPr id="36" name="Text 36"/><p:cNvSpPr txBox="1"/><p:nvPr/></p:nvSpPr><p:spPr><a:xfrm><a:off x="6336792" y="3200400"/><a:ext cx="5184648" cy="841248"/></a:xfrm><a:prstGeom prst="rect"><a:avLst/></a:prstGeom><a:noFill/><a:ln><a:noFill/></a:ln></p:spPr><p:txBody><a:bodyPr wrap="square" anchor="t" lIns="0" rIns="0" tIns="0" bIns="0"/><a:lstStyle/><a:p><a:pPr/><a:r><a:rPr lang="tr-TR" sz="990"><a:solidFill><a:srgbClr val="F8FAFC"/></a:solidFill><a:latin typeface="Aptos"/><a:t>Yorum kimlikleri; iddia, soru, görüş ve kanıt ilişkilerinde tutulur. Hangi çıktının hangi yorumlara dayandığı kaybolmaz.</a:t></a:r><a:endParaRPr lang="tr-TR" sz="990"/></a:p></p:txBody></p:sp><p:sp><p:nvSpPr><p:cNvPr id="37" name="Shape 37"/><p:cNvSpPr/><p:nvPr/></p:nvSpPr><p:spPr><a:xfrm><a:off x="566928" y="4370832"/><a:ext cx="5458968" cy="138988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8" name="Shape 38"/><p:cNvSpPr/><p:nvPr/></p:nvSpPr><p:spPr><a:xfrm><a:off x="566928" y="4370832"/><a:ext cx="50292" cy="1389888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9" name="Text 39"/><p:cNvSpPr txBox="1"/><p:nvPr/></p:nvSpPr><p:spPr><a:xfrm><a:off x="731520" y="4480560"/><a:ext cx="5184648" cy="274320"/></a:xfrm><a:prstGeom prst="rect"><a:avLst/></a:prstGeom><a:noFill/><a:ln><a:noFill/></a:ln></p:spPr><p:txBody><a:bodyPr wrap="square" anchor="t" lIns="0" rIns="0" tIns="0" bIns="0"/><a:lstStyle/><a:p><a:pPr/><a:r><a:rPr lang="tr-TR" sz="1100" b="1"><a:solidFill><a:srgbClr val="FBBF24"/></a:solidFill><a:latin typeface="Aptos"/><a:t>İzolasyon</a:t></a:r><a:endParaRPr lang="tr-TR" sz="1100"/></a:p></p:txBody></p:sp><p:sp><p:nvSpPr><p:cNvPr id="40" name="Text 40"/><p:cNvSpPr txBox="1"/><p:nvPr/></p:nvSpPr><p:spPr><a:xfrm><a:off x="731520" y="4828032"/><a:ext cx="5184648" cy="841248"/></a:xfrm><a:prstGeom prst="rect"><a:avLst/></a:prstGeom><a:noFill/><a:ln><a:noFill/></a:ln></p:spPr><p:txBody><a:bodyPr wrap="square" anchor="t" lIns="0" rIns="0" tIns="0" bIns="0"/><a:lstStyle/><a:p><a:pPr/><a:r><a:rPr lang="tr-TR" sz="990"><a:solidFill><a:srgbClr val="F8FAFC"/></a:solidFill><a:latin typeface="Aptos"/><a:t>Teknik senaryo değerlendirmesi kayıtlı kullanıcı tartışmalarını, bildirimleri, mesajları, yer imlerini, listeleri ve referans ölçümünü değiştirmez.</a:t></a:r><a:endParaRPr lang="tr-TR" sz="990"/></a:p></p:txBody></p:sp><p:sp><p:nvSpPr><p:cNvPr id="41" name="Text 41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42" name="Text 42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23</a:t></a:r><a:endParaRPr lang="tr-TR" sz="820"/></a:p></p:txBody></p:sp></p:spTree></p:cSld><p:clrMapOvr><a:masterClrMapping/></p:clrMapOvr></p:sld>
</file>

<file path=ppt/slides/slide24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Model seçimi ve hibrit mimari neden gerekli?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Model kullanımı, ürün davranışının tamamı değildir.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Yapısal hızlı yol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Türkçe destek/itiraz, koşul, soru, kaynak ve güvenlik sinyalleri açık olduğunda düşük gecikmeli ve açıklanabilir karar.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mDeBERTa-XNLI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Belirsiz görüş veya iddia örneklerinde isteğe bağlı Transformer çıkarımı. Tüm cümleleri zorunlu olarak modele göndermemek için eşik ve hibrit akış kullanılır.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Qwen Yanıt Koçu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Üretken model yalnızca belirsiz yeniden yazım adaylarında devreye girer. Prompt, sayı, soru, görüş yönü ve saldırı doğrulama kapısından geçemeyen aday gösterilmez.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Fallback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Model paketi yoksa veya yükleme/üretim başarısızsa güvenli hibrit/bağlamsal fallback çalışır. Kullanıcıya boş veya saldırgan çıktı dönmemesi hedeflenir.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24</a:t></a:r><a:endParaRPr lang="tr-TR" sz="820"/></a:p></p:txBody></p:sp></p:spTree></p:cSld><p:clrMapOvr><a:masterClrMapping/></p:clrMapOvr></p:sld>
</file>

<file path=ppt/slides/slide25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Veri kalıcılığı ve değişikliklerin güvenliği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Kalıcılık, yalnızca veritabanına yazmak değil; tekrarların ve izolasyonun kontrolüdür.</a:t></a:r><a:endParaRPr lang="tr-TR" sz="1020"/></a:p></p:txBody></p:sp><p:sp><p:nvSpPr><p:cNvPr id="6" name="Shape 6"/><p:cNvSpPr/><p:nvPr/></p:nvSpPr><p:spPr><a:xfrm><a:off x="566928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SQLite tabloları</a:t></a:r><a:endParaRPr lang="tr-TR" sz="1170"/></a:p></p:txBody></p:sp><p:sp><p:nvSpPr><p:cNvPr id="9" name="Text 9"/><p:cNvSpPr txBox="1"/><p:nvPr/></p:nvSpPr><p:spPr><a:xfrm><a:off x="731520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app_meta · custom_posts · analysis_history · notifications · conversations/messages · bookmarks · topic_lists/topic_list_entries · profiles.</a:t></a:r><a:endParaRPr lang="tr-TR" sz="1060"/></a:p></p:txBody></p:sp><p:sp><p:nvSpPr><p:cNvPr id="10" name="Shape 10"/><p:cNvSpPr/><p:nvPr/></p:nvSpPr><p:spPr><a:xfrm><a:off x="4303776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4303776" y="1572768"/><a:ext cx="50292" cy="193852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4468368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34D399"/></a:solidFill><a:latin typeface="Aptos"/><a:t>Tekilleştirme</a:t></a:r><a:endParaRPr lang="tr-TR" sz="1170"/></a:p></p:txBody></p:sp><p:sp><p:nvSpPr><p:cNvPr id="13" name="Text 13"/><p:cNvSpPr txBox="1"/><p:nvPr/></p:nvSpPr><p:spPr><a:xfrm><a:off x="4468368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Bildirimlerde benzersiz signature_key; yer imlerinde identity_key; listelerde normalize edilmiş ad; liste öğelerinde liste + içerik kimliği benzersizliği.</a:t></a:r><a:endParaRPr lang="tr-TR" sz="1060"/></a:p></p:txBody></p:sp><p:sp><p:nvSpPr><p:cNvPr id="14" name="Shape 14"/><p:cNvSpPr/><p:nvPr/></p:nvSpPr><p:spPr><a:xfrm><a:off x="8040624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8040624" y="1572768"/><a:ext cx="50292" cy="1938528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8205216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BF24"/></a:solidFill><a:latin typeface="Aptos"/><a:t>İşlem güvenliği</a:t></a:r><a:endParaRPr lang="tr-TR" sz="1170"/></a:p></p:txBody></p:sp><p:sp><p:nvSpPr><p:cNvPr id="17" name="Text 17"/><p:cNvSpPr txBox="1"/><p:nvPr/></p:nvSpPr><p:spPr><a:xfrm><a:off x="8205216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SQLite transaction ve BEGIN IMMEDIATE ile aynı kayda eşzamanlı yazımlarda tekrar üretim riski azaltılır.</a:t></a:r><a:endParaRPr lang="tr-TR" sz="1060"/></a:p></p:txBody></p:sp><p:sp><p:nvSpPr><p:cNvPr id="18" name="Shape 18"/><p:cNvSpPr/><p:nvPr/></p:nvSpPr><p:spPr><a:xfrm><a:off x="566928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566928" y="3685032"/><a:ext cx="50292" cy="1938528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731520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7185"/></a:solidFill><a:latin typeface="Aptos"/><a:t>İzolasyon</a:t></a:r><a:endParaRPr lang="tr-TR" sz="1170"/></a:p></p:txBody></p:sp><p:sp><p:nvSpPr><p:cNvPr id="21" name="Text 21"/><p:cNvSpPr txBox="1"/><p:nvPr/></p:nvSpPr><p:spPr><a:xfrm><a:off x="731520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Kullanıcı içeriği ile elle etiketli teknik doğrulama seti ayrı tutulur. Senaryo sonucu app_meta içinde ayrı anahtarla saklanır.</a:t></a:r><a:endParaRPr lang="tr-TR" sz="1060"/></a:p></p:txBody></p:sp><p:sp><p:nvSpPr><p:cNvPr id="22" name="Shape 22"/><p:cNvSpPr/><p:nvPr/></p:nvSpPr><p:spPr><a:xfrm><a:off x="4303776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Shape 23"/><p:cNvSpPr/><p:nvPr/></p:nvSpPr><p:spPr><a:xfrm><a:off x="4303776" y="3685032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4" name="Text 24"/><p:cNvSpPr txBox="1"/><p:nvPr/></p:nvSpPr><p:spPr><a:xfrm><a:off x="4468368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Geri alınabilirlik</a:t></a:r><a:endParaRPr lang="tr-TR" sz="1170"/></a:p></p:txBody></p:sp><p:sp><p:nvSpPr><p:cNvPr id="25" name="Text 25"/><p:cNvSpPr txBox="1"/><p:nvPr/></p:nvSpPr><p:spPr><a:xfrm><a:off x="4468368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Bildirim silme soft-delete mantığındadır; okundu bildirimleri temizleme ve geri yükleme akışları ayrıdır.</a:t></a:r><a:endParaRPr lang="tr-TR" sz="1060"/></a:p></p:txBody></p:sp><p:sp><p:nvSpPr><p:cNvPr id="26" name="Text 26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7" name="Text 27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25</a:t></a:r><a:endParaRPr lang="tr-TR" sz="820"/></a:p></p:txBody></p:sp></p:spTree></p:cSld><p:clrMapOvr><a:masterClrMapping/></p:clrMapOvr></p:sld>
</file>

<file path=ppt/slides/slide26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API sözleşmesi ve çalışma modları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Kullanıcı arayüzü ile backend arasındaki akışlar açık uç noktalarla ayrılmıştır.</a:t></a:r><a:endParaRPr lang="tr-TR" sz="1020"/></a:p></p:txBody></p:sp><p:sp><p:nvSpPr><p:cNvPr id="6" name="Shape 6"/><p:cNvSpPr/><p:nvPr/></p:nvSpPr><p:spPr><a:xfrm><a:off x="566928" y="1572768"/><a:ext cx="5532120" cy="499001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Text 7"/><p:cNvSpPr txBox="1"/><p:nvPr/></p:nvSpPr><p:spPr><a:xfrm><a:off x="603504" y="1600200"/><a:ext cx="5458968" cy="444137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Uç nokta grubu</a:t></a:r><a:endParaRPr lang="tr-TR" sz="1000"/></a:p></p:txBody></p:sp><p:sp><p:nvSpPr><p:cNvPr id="8" name="Shape 8"/><p:cNvSpPr/><p:nvPr/></p:nvSpPr><p:spPr><a:xfrm><a:off x="6099048" y="1572768"/><a:ext cx="5532120" cy="499001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9" name="Text 9"/><p:cNvSpPr txBox="1"/><p:nvPr/></p:nvSpPr><p:spPr><a:xfrm><a:off x="6135624" y="1600200"/><a:ext cx="5458968" cy="444137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Görev</a:t></a:r><a:endParaRPr lang="tr-TR" sz="1000"/></a:p></p:txBody></p:sp><p:sp><p:nvSpPr><p:cNvPr id="10" name="Shape 10"/><p:cNvSpPr/><p:nvPr/></p:nvSpPr><p:spPr><a:xfrm><a:off x="566928" y="2071769"/><a:ext cx="5532120" cy="49900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Text 11"/><p:cNvSpPr txBox="1"/><p:nvPr/></p:nvSpPr><p:spPr><a:xfrm><a:off x="603504" y="2099201"/><a:ext cx="5458968" cy="44413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GET /health · /api/ai/status · /api/coach/status</a:t></a:r><a:endParaRPr lang="tr-TR" sz="925"/></a:p></p:txBody></p:sp><p:sp><p:nvSpPr><p:cNvPr id="12" name="Shape 12"/><p:cNvSpPr/><p:nvPr/></p:nvSpPr><p:spPr><a:xfrm><a:off x="6099048" y="2071769"/><a:ext cx="5532120" cy="49900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3" name="Text 13"/><p:cNvSpPr txBox="1"/><p:nvPr/></p:nvSpPr><p:spPr><a:xfrm><a:off x="6135624" y="2099201"/><a:ext cx="5458968" cy="44413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Servis ve model durumunu okumak</a:t></a:r><a:endParaRPr lang="tr-TR" sz="925"/></a:p></p:txBody></p:sp><p:sp><p:nvSpPr><p:cNvPr id="14" name="Shape 14"/><p:cNvSpPr/><p:nvPr/></p:nvSpPr><p:spPr><a:xfrm><a:off x="566928" y="2570770"/><a:ext cx="5532120" cy="49900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Text 15"/><p:cNvSpPr txBox="1"/><p:nvPr/></p:nvSpPr><p:spPr><a:xfrm><a:off x="603504" y="2598202"/><a:ext cx="5458968" cy="44413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GET /api/posts/demo · GET /api/posts/{id}</a:t></a:r><a:endParaRPr lang="tr-TR" sz="925"/></a:p></p:txBody></p:sp><p:sp><p:nvSpPr><p:cNvPr id="16" name="Shape 16"/><p:cNvSpPr/><p:nvPr/></p:nvSpPr><p:spPr><a:xfrm><a:off x="6099048" y="2570770"/><a:ext cx="5532120" cy="49900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7" name="Text 17"/><p:cNvSpPr txBox="1"/><p:nvPr/></p:nvSpPr><p:spPr><a:xfrm><a:off x="6135624" y="2598202"/><a:ext cx="5458968" cy="44413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Demo veya kayıtlı tartışmayı almak</a:t></a:r><a:endParaRPr lang="tr-TR" sz="925"/></a:p></p:txBody></p:sp><p:sp><p:nvSpPr><p:cNvPr id="18" name="Shape 18"/><p:cNvSpPr/><p:nvPr/></p:nvSpPr><p:spPr><a:xfrm><a:off x="566928" y="3069771"/><a:ext cx="5532120" cy="49900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Text 19"/><p:cNvSpPr txBox="1"/><p:nvPr/></p:nvSpPr><p:spPr><a:xfrm><a:off x="603504" y="3097203"/><a:ext cx="5458968" cy="44413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POST /api/analyze-discussion · GET /api/analyze/{id}</a:t></a:r><a:endParaRPr lang="tr-TR" sz="925"/></a:p></p:txBody></p:sp><p:sp><p:nvSpPr><p:cNvPr id="20" name="Shape 20"/><p:cNvSpPr/><p:nvPr/></p:nvSpPr><p:spPr><a:xfrm><a:off x="6099048" y="3069771"/><a:ext cx="5532120" cy="49900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1" name="Text 21"/><p:cNvSpPr txBox="1"/><p:nvPr/></p:nvSpPr><p:spPr><a:xfrm><a:off x="6135624" y="3097203"/><a:ext cx="5458968" cy="44413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Yeni veya kayıtlı tartışmayı analiz etmek</a:t></a:r><a:endParaRPr lang="tr-TR" sz="925"/></a:p></p:txBody></p:sp><p:sp><p:nvSpPr><p:cNvPr id="22" name="Shape 22"/><p:cNvSpPr/><p:nvPr/></p:nvSpPr><p:spPr><a:xfrm><a:off x="566928" y="3568773"/><a:ext cx="5532120" cy="49900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Text 23"/><p:cNvSpPr txBox="1"/><p:nvPr/></p:nvSpPr><p:spPr><a:xfrm><a:off x="603504" y="3596205"/><a:ext cx="5458968" cy="44413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POST /api/rewrite</a:t></a:r><a:endParaRPr lang="tr-TR" sz="925"/></a:p></p:txBody></p:sp><p:sp><p:nvSpPr><p:cNvPr id="24" name="Shape 24"/><p:cNvSpPr/><p:nvPr/></p:nvSpPr><p:spPr><a:xfrm><a:off x="6099048" y="3568773"/><a:ext cx="5532120" cy="49900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5" name="Text 25"/><p:cNvSpPr txBox="1"/><p:nvPr/></p:nvSpPr><p:spPr><a:xfrm><a:off x="6135624" y="3596205"/><a:ext cx="5458968" cy="44413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Yanıt Koçu’nu çalıştırmak</a:t></a:r><a:endParaRPr lang="tr-TR" sz="925"/></a:p></p:txBody></p:sp><p:sp><p:nvSpPr><p:cNvPr id="26" name="Shape 26"/><p:cNvSpPr/><p:nvPr/></p:nvSpPr><p:spPr><a:xfrm><a:off x="566928" y="4067774"/><a:ext cx="5532120" cy="49900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7" name="Text 27"/><p:cNvSpPr txBox="1"/><p:nvPr/></p:nvSpPr><p:spPr><a:xfrm><a:off x="603504" y="4095206"/><a:ext cx="5458968" cy="44413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GET/POST /api/evaluation*</a:t></a:r><a:endParaRPr lang="tr-TR" sz="925"/></a:p></p:txBody></p:sp><p:sp><p:nvSpPr><p:cNvPr id="28" name="Shape 28"/><p:cNvSpPr/><p:nvPr/></p:nvSpPr><p:spPr><a:xfrm><a:off x="6099048" y="4067774"/><a:ext cx="5532120" cy="49900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9" name="Text 29"/><p:cNvSpPr txBox="1"/><p:nvPr/></p:nvSpPr><p:spPr><a:xfrm><a:off x="6135624" y="4095206"/><a:ext cx="5458968" cy="44413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Teknik ve çok senaryolu değerlendirme</a:t></a:r><a:endParaRPr lang="tr-TR" sz="925"/></a:p></p:txBody></p:sp><p:sp><p:nvSpPr><p:cNvPr id="30" name="Shape 30"/><p:cNvSpPr/><p:nvPr/></p:nvSpPr><p:spPr><a:xfrm><a:off x="566928" y="4566775"/><a:ext cx="5532120" cy="49900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1" name="Text 31"/><p:cNvSpPr txBox="1"/><p:nvPr/></p:nvSpPr><p:spPr><a:xfrm><a:off x="603504" y="4594207"/><a:ext cx="5458968" cy="44413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notifications · messages · bookmarks · lists · history · profile</a:t></a:r><a:endParaRPr lang="tr-TR" sz="925"/></a:p></p:txBody></p:sp><p:sp><p:nvSpPr><p:cNvPr id="32" name="Shape 32"/><p:cNvSpPr/><p:nvPr/></p:nvSpPr><p:spPr><a:xfrm><a:off x="6099048" y="4566775"/><a:ext cx="5532120" cy="49900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3" name="Text 33"/><p:cNvSpPr txBox="1"/><p:nvPr/></p:nvSpPr><p:spPr><a:xfrm><a:off x="6135624" y="4594207"/><a:ext cx="5458968" cy="44413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Kalıcı ürün davranışları</a:t></a:r><a:endParaRPr lang="tr-TR" sz="925"/></a:p></p:txBody></p:sp><p:sp><p:nvSpPr><p:cNvPr id="34" name="Shape 34"/><p:cNvSpPr/><p:nvPr/></p:nvSpPr><p:spPr><a:xfrm><a:off x="566928" y="5340096"/><a:ext cx="5458968" cy="74980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5" name="Shape 35"/><p:cNvSpPr/><p:nvPr/></p:nvSpPr><p:spPr><a:xfrm><a:off x="566928" y="5340096"/><a:ext cx="50292" cy="74980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6" name="Text 36"/><p:cNvSpPr txBox="1"/><p:nvPr/></p:nvSpPr><p:spPr><a:xfrm><a:off x="731520" y="5449824"/><a:ext cx="5184648" cy="274320"/></a:xfrm><a:prstGeom prst="rect"><a:avLst/></a:prstGeom><a:noFill/><a:ln><a:noFill/></a:ln></p:spPr><p:txBody><a:bodyPr wrap="square" anchor="t" lIns="0" rIns="0" tIns="0" bIns="0"/><a:lstStyle/><a:p><a:pPr/><a:r><a:rPr lang="tr-TR" sz="1010" b="1"><a:solidFill><a:srgbClr val="22D3EE"/></a:solidFill><a:latin typeface="Aptos"/><a:t>Servis ve modeller</a:t></a:r><a:endParaRPr lang="tr-TR" sz="1010"/></a:p></p:txBody></p:sp><p:sp><p:nvSpPr><p:cNvPr id="37" name="Text 37"/><p:cNvSpPr txBox="1"/><p:nvPr/></p:nvSpPr><p:spPr><a:xfrm><a:off x="731520" y="5797296"/><a:ext cx="5184648" cy="201168"/></a:xfrm><a:prstGeom prst="rect"><a:avLst/></a:prstGeom><a:noFill/><a:ln><a:noFill/></a:ln></p:spPr><p:txBody><a:bodyPr wrap="square" anchor="t" lIns="0" rIns="0" tIns="0" bIns="0"/><a:lstStyle/><a:p><a:pPr/><a:r><a:rPr lang="tr-TR" sz="900"><a:solidFill><a:srgbClr val="F8FAFC"/></a:solidFill><a:latin typeface="Aptos"/><a:t>GET /health · /api/ai/status · /api/coach/status; servis ve model durumunu okumak.</a:t></a:r><a:endParaRPr lang="tr-TR" sz="900"/></a:p></p:txBody></p:sp><p:sp><p:nvSpPr><p:cNvPr id="38" name="Shape 38"/><p:cNvSpPr/><p:nvPr/></p:nvSpPr><p:spPr><a:xfrm><a:off x="6172200" y="5340096"/><a:ext cx="5458968" cy="74980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9" name="Shape 39"/><p:cNvSpPr/><p:nvPr/></p:nvSpPr><p:spPr><a:xfrm><a:off x="6172200" y="5340096"/><a:ext cx="50292" cy="74980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0" name="Text 40"/><p:cNvSpPr txBox="1"/><p:nvPr/></p:nvSpPr><p:spPr><a:xfrm><a:off x="6336792" y="5449824"/><a:ext cx="5184648" cy="274320"/></a:xfrm><a:prstGeom prst="rect"><a:avLst/></a:prstGeom><a:noFill/><a:ln><a:noFill/></a:ln></p:spPr><p:txBody><a:bodyPr wrap="square" anchor="t" lIns="0" rIns="0" tIns="0" bIns="0"/><a:lstStyle/><a:p><a:pPr/><a:r><a:rPr lang="tr-TR" sz="1010" b="1"><a:solidFill><a:srgbClr val="34D399"/></a:solidFill><a:latin typeface="Aptos"/><a:t>Tartışma ve analiz</a:t></a:r><a:endParaRPr lang="tr-TR" sz="1010"/></a:p></p:txBody></p:sp><p:sp><p:nvSpPr><p:cNvPr id="41" name="Text 41"/><p:cNvSpPr txBox="1"/><p:nvPr/></p:nvSpPr><p:spPr><a:xfrm><a:off x="6336792" y="5797296"/><a:ext cx="5184648" cy="201168"/></a:xfrm><a:prstGeom prst="rect"><a:avLst/></a:prstGeom><a:noFill/><a:ln><a:noFill/></a:ln></p:spPr><p:txBody><a:bodyPr wrap="square" anchor="t" lIns="0" rIns="0" tIns="0" bIns="0"/><a:lstStyle/><a:p><a:pPr/><a:r><a:rPr lang="tr-TR" sz="900"><a:solidFill><a:srgbClr val="F8FAFC"/></a:solidFill><a:latin typeface="Aptos"/><a:t>GET /api/posts/demo · /api/posts/{id} · POST /api/analyze-discussion · GET /api/analyze/{id}.</a:t></a:r><a:endParaRPr lang="tr-TR" sz="900"/></a:p></p:txBody></p:sp><p:sp><p:nvSpPr><p:cNvPr id="42" name="Shape 42"/><p:cNvSpPr/><p:nvPr/></p:nvSpPr><p:spPr><a:xfrm><a:off x="11777472" y="5340096"/><a:ext cx="5458968" cy="74980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3" name="Shape 43"/><p:cNvSpPr/><p:nvPr/></p:nvSpPr><p:spPr><a:xfrm><a:off x="11777472" y="5340096"/><a:ext cx="50292" cy="74980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4" name="Text 44"/><p:cNvSpPr txBox="1"/><p:nvPr/></p:nvSpPr><p:spPr><a:xfrm><a:off x="11942064" y="5449824"/><a:ext cx="5184648" cy="274320"/></a:xfrm><a:prstGeom prst="rect"><a:avLst/></a:prstGeom><a:noFill/><a:ln><a:noFill/></a:ln></p:spPr><p:txBody><a:bodyPr wrap="square" anchor="t" lIns="0" rIns="0" tIns="0" bIns="0"/><a:lstStyle/><a:p><a:pPr/><a:r><a:rPr lang="tr-TR" sz="1010" b="1"><a:solidFill><a:srgbClr val="22D3EE"/></a:solidFill><a:latin typeface="Aptos"/><a:t>Yanıt ve değerlendirme</a:t></a:r><a:endParaRPr lang="tr-TR" sz="1010"/></a:p></p:txBody></p:sp><p:sp><p:nvSpPr><p:cNvPr id="45" name="Text 45"/><p:cNvSpPr txBox="1"/><p:nvPr/></p:nvSpPr><p:spPr><a:xfrm><a:off x="11942064" y="5797296"/><a:ext cx="5184648" cy="201168"/></a:xfrm><a:prstGeom prst="rect"><a:avLst/></a:prstGeom><a:noFill/><a:ln><a:noFill/></a:ln></p:spPr><p:txBody><a:bodyPr wrap="square" anchor="t" lIns="0" rIns="0" tIns="0" bIns="0"/><a:lstStyle/><a:p><a:pPr/><a:r><a:rPr lang="tr-TR" sz="900"><a:solidFill><a:srgbClr val="F8FAFC"/></a:solidFill><a:latin typeface="Aptos"/><a:t>POST /api/rewrite · GET/POST /api/evaluation*; Yanıt Koçu ve teknik doğrulama.</a:t></a:r><a:endParaRPr lang="tr-TR" sz="900"/></a:p></p:txBody></p:sp><p:sp><p:nvSpPr><p:cNvPr id="46" name="Shape 46"/><p:cNvSpPr/><p:nvPr/></p:nvSpPr><p:spPr><a:xfrm><a:off x="17382744" y="5340096"/><a:ext cx="5458968" cy="74980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7" name="Shape 47"/><p:cNvSpPr/><p:nvPr/></p:nvSpPr><p:spPr><a:xfrm><a:off x="17382744" y="5340096"/><a:ext cx="50292" cy="74980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8" name="Text 48"/><p:cNvSpPr txBox="1"/><p:nvPr/></p:nvSpPr><p:spPr><a:xfrm><a:off x="17547336" y="5449824"/><a:ext cx="5184648" cy="274320"/></a:xfrm><a:prstGeom prst="rect"><a:avLst/></a:prstGeom><a:noFill/><a:ln><a:noFill/></a:ln></p:spPr><p:txBody><a:bodyPr wrap="square" anchor="t" lIns="0" rIns="0" tIns="0" bIns="0"/><a:lstStyle/><a:p><a:pPr/><a:r><a:rPr lang="tr-TR" sz="1010" b="1"><a:solidFill><a:srgbClr val="34D399"/></a:solidFill><a:latin typeface="Aptos"/><a:t>Ürün davranışları</a:t></a:r><a:endParaRPr lang="tr-TR" sz="1010"/></a:p></p:txBody></p:sp><p:sp><p:nvSpPr><p:cNvPr id="49" name="Text 49"/><p:cNvSpPr txBox="1"/><p:nvPr/></p:nvSpPr><p:spPr><a:xfrm><a:off x="17547336" y="5797296"/><a:ext cx="5184648" cy="201168"/></a:xfrm><a:prstGeom prst="rect"><a:avLst/></a:prstGeom><a:noFill/><a:ln><a:noFill/></a:ln></p:spPr><p:txBody><a:bodyPr wrap="square" anchor="t" lIns="0" rIns="0" tIns="0" bIns="0"/><a:lstStyle/><a:p><a:pPr/><a:r><a:rPr lang="tr-TR" sz="900"><a:solidFill><a:srgbClr val="F8FAFC"/></a:solidFill><a:latin typeface="Aptos"/><a:t>notifications · messages · bookmarks · lists · history · profile.</a:t></a:r><a:endParaRPr lang="tr-TR" sz="900"/></a:p></p:txBody></p:sp><p:sp><p:nvSpPr><p:cNvPr id="50" name="Shape 50"/><p:cNvSpPr/><p:nvPr/></p:nvSpPr><p:spPr><a:xfrm><a:off x="22988016" y="5340096"/><a:ext cx="5458968" cy="74980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51" name="Shape 51"/><p:cNvSpPr/><p:nvPr/></p:nvSpPr><p:spPr><a:xfrm><a:off x="22988016" y="5340096"/><a:ext cx="50292" cy="74980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52" name="Text 52"/><p:cNvSpPr txBox="1"/><p:nvPr/></p:nvSpPr><p:spPr><a:xfrm><a:off x="23152608" y="5449824"/><a:ext cx="5184648" cy="274320"/></a:xfrm><a:prstGeom prst="rect"><a:avLst/></a:prstGeom><a:noFill/><a:ln><a:noFill/></a:ln></p:spPr><p:txBody><a:bodyPr wrap="square" anchor="t" lIns="0" rIns="0" tIns="0" bIns="0"/><a:lstStyle/><a:p><a:pPr/><a:r><a:rPr lang="tr-TR" sz="1010" b="1"><a:solidFill><a:srgbClr val="22D3EE"/></a:solidFill><a:latin typeface="Aptos"/><a:t>Çalışma modu</a:t></a:r><a:endParaRPr lang="tr-TR" sz="1010"/></a:p></p:txBody></p:sp><p:sp><p:nvSpPr><p:cNvPr id="53" name="Text 53"/><p:cNvSpPr txBox="1"/><p:nvPr/></p:nvSpPr><p:spPr><a:xfrm><a:off x="23152608" y="5797296"/><a:ext cx="5184648" cy="201168"/></a:xfrm><a:prstGeom prst="rect"><a:avLst/></a:prstGeom><a:noFill/><a:ln><a:noFill/></a:ln></p:spPr><p:txBody><a:bodyPr wrap="square" anchor="t" lIns="0" rIns="0" tIns="0" bIns="0"/><a:lstStyle/><a:p><a:pPr/><a:r><a:rPr lang="tr-TR" sz="900"><a:solidFill><a:srgbClr val="F8FAFC"/></a:solidFill><a:latin typeface="Aptos"/><a:t>use_ai=true/false seçilebilir; model hazır değilse durum ve fallback nedeni sonuçta görünür. Varsayılan adresler: frontend 3000, backend 8000.</a:t></a:r><a:endParaRPr lang="tr-TR" sz="900"/></a:p></p:txBody></p:sp><p:sp><p:nvSpPr><p:cNvPr id="54" name="Text 54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55" name="Text 55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26</a:t></a:r><a:endParaRPr lang="tr-TR" sz="820"/></a:p></p:txBody></p:sp></p:spTree></p:cSld><p:clrMapOvr><a:masterClrMapping/></p:clrMapOvr></p:sld>
</file>

<file path=ppt/slides/slide27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Teknik doğrulama: veri seti nasıl kuruldu?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Ölçüm, kullanıcı etkisi araştırması değil; kontrollü proje içi sınıflandırma doğrulamasıdır.</a:t></a:r><a:endParaRPr lang="tr-TR" sz="1020"/></a:p></p:txBody></p:sp><p:sp><p:nvSpPr><p:cNvPr id="6" name="Shape 6"/><p:cNvSpPr/><p:nvPr/></p:nvSpPr><p:spPr><a:xfrm><a:off x="566928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Kapsam</a:t></a:r><a:endParaRPr lang="tr-TR" sz="1170"/></a:p></p:txBody></p:sp><p:sp><p:nvSpPr><p:cNvPr id="9" name="Text 9"/><p:cNvSpPr txBox="1"/><p:nvPr/></p:nvSpPr><p:spPr><a:xfrm><a:off x="731520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4 tartışma konusu × 20 örnek = 80 cümle. Dört görüş sınıfının her biri 20 örnekle dengeli temsil edilir.</a:t></a:r><a:endParaRPr lang="tr-TR" sz="1060"/></a:p></p:txBody></p:sp><p:sp><p:nvSpPr><p:cNvPr id="10" name="Shape 10"/><p:cNvSpPr/><p:nvPr/></p:nvSpPr><p:spPr><a:xfrm><a:off x="4303776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4303776" y="1572768"/><a:ext cx="50292" cy="193852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4468368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34D399"/></a:solidFill><a:latin typeface="Aptos"/><a:t>Konular</a:t></a:r><a:endParaRPr lang="tr-TR" sz="1170"/></a:p></p:txBody></p:sp><p:sp><p:nvSpPr><p:cNvPr id="13" name="Text 13"/><p:cNvSpPr txBox="1"/><p:nvPr/></p:nvSpPr><p:spPr><a:xfrm><a:off x="4468368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Akademik yapay zekâ · okulda telefon kullanımı · kampüste gece ulaşımı · uzaktan çalışma.</a:t></a:r><a:endParaRPr lang="tr-TR" sz="1060"/></a:p></p:txBody></p:sp><p:sp><p:nvSpPr><p:cNvPr id="14" name="Shape 14"/><p:cNvSpPr/><p:nvPr/></p:nvSpPr><p:spPr><a:xfrm><a:off x="8040624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8040624" y="1572768"/><a:ext cx="50292" cy="1938528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8205216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BF24"/></a:solidFill><a:latin typeface="Aptos"/><a:t>Zorluk</a:t></a:r><a:endParaRPr lang="tr-TR" sz="1170"/></a:p></p:txBody></p:sp><p:sp><p:nvSpPr><p:cNvPr id="17" name="Text 17"/><p:cNvSpPr txBox="1"/><p:nvPr/></p:nvSpPr><p:spPr><a:xfrm><a:off x="8205216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32 temel örnek; 48 zor/örtük örnek. Zor örneklerde örtük tutum, olumsuzlama, koşul ve kaynak eleştirisi bulunur.</a:t></a:r><a:endParaRPr lang="tr-TR" sz="1060"/></a:p></p:txBody></p:sp><p:sp><p:nvSpPr><p:cNvPr id="18" name="Shape 18"/><p:cNvSpPr/><p:nvPr/></p:nvSpPr><p:spPr><a:xfrm><a:off x="566928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566928" y="3685032"/><a:ext cx="50292" cy="1938528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731520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7185"/></a:solidFill><a:latin typeface="Aptos"/><a:t>Yöntem</a:t></a:r><a:endParaRPr lang="tr-TR" sz="1170"/></a:p></p:txBody></p:sp><p:sp><p:nvSpPr><p:cNvPr id="21" name="Text 21"/><p:cNvSpPr txBox="1"/><p:nvPr/></p:nvSpPr><p:spPr><a:xfrm><a:off x="731520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Beklenen etiketler elle belirlenir; sistem tahminiyle karşılaştırılır. Konu, sınıf, zorluk, Precision/Recall/F1 ve gerçek karışıklık matrisi ayrı hesaplanır.</a:t></a:r><a:endParaRPr lang="tr-TR" sz="1060"/></a:p></p:txBody></p:sp><p:sp><p:nvSpPr><p:cNvPr id="22" name="Shape 22"/><p:cNvSpPr/><p:nvPr/></p:nvSpPr><p:spPr><a:xfrm><a:off x="4303776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Shape 23"/><p:cNvSpPr/><p:nvPr/></p:nvSpPr><p:spPr><a:xfrm><a:off x="4303776" y="3685032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4" name="Text 24"/><p:cNvSpPr txBox="1"/><p:nvPr/></p:nvSpPr><p:spPr><a:xfrm><a:off x="4468368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Sınır</a:t></a:r><a:endParaRPr lang="tr-TR" sz="1170"/></a:p></p:txBody></p:sp><p:sp><p:nvSpPr><p:cNvPr id="25" name="Text 25"/><p:cNvSpPr txBox="1"/><p:nvPr/></p:nvSpPr><p:spPr><a:xfrm><a:off x="4468368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Veri seti proje içidir; dış benchmark, bilimsel genelleme veya etiketsiz kullanıcı yorumlarında başarı sonucu değildir.</a:t></a:r><a:endParaRPr lang="tr-TR" sz="1060"/></a:p></p:txBody></p:sp><p:sp><p:nvSpPr><p:cNvPr id="26" name="Text 26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7" name="Text 27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27</a:t></a:r><a:endParaRPr lang="tr-TR" sz="820"/></a:p></p:txBody></p:sp></p:spTree></p:cSld><p:clrMapOvr><a:masterClrMapping/></p:clrMapOvr></p:sld>
</file>

<file path=ppt/slides/slide28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Sonuçlar · konu bazında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80 örnekte toplam 74 doğru sınıflandırma.</a:t></a:r><a:endParaRPr lang="tr-TR" sz="1020"/></a:p></p:txBody></p:sp><p:sp><p:nvSpPr><p:cNvPr id="6" name="Shape 6"/><p:cNvSpPr/><p:nvPr/></p:nvSpPr><p:spPr><a:xfrm><a:off x="566928" y="1572768"/><a:ext cx="3688080" cy="582168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Text 7"/><p:cNvSpPr txBox="1"/><p:nvPr/></p:nvSpPr><p:spPr><a:xfrm><a:off x="603504" y="1600200"/><a:ext cx="3614928" cy="527304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Tartışma konusu</a:t></a:r><a:endParaRPr lang="tr-TR" sz="1000"/></a:p></p:txBody></p:sp><p:sp><p:nvSpPr><p:cNvPr id="8" name="Shape 8"/><p:cNvSpPr/><p:nvPr/></p:nvSpPr><p:spPr><a:xfrm><a:off x="4255008" y="1572768"/><a:ext cx="3688080" cy="582168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9" name="Text 9"/><p:cNvSpPr txBox="1"/><p:nvPr/></p:nvSpPr><p:spPr><a:xfrm><a:off x="4291584" y="1600200"/><a:ext cx="3614928" cy="527304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Doğru / toplam</a:t></a:r><a:endParaRPr lang="tr-TR" sz="1000"/></a:p></p:txBody></p:sp><p:sp><p:nvSpPr><p:cNvPr id="10" name="Shape 10"/><p:cNvSpPr/><p:nvPr/></p:nvSpPr><p:spPr><a:xfrm><a:off x="7943088" y="1572768"/><a:ext cx="3688080" cy="582168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Text 11"/><p:cNvSpPr txBox="1"/><p:nvPr/></p:nvSpPr><p:spPr><a:xfrm><a:off x="7979664" y="1600200"/><a:ext cx="3614928" cy="527304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Doğruluk</a:t></a:r><a:endParaRPr lang="tr-TR" sz="1000"/></a:p></p:txBody></p:sp><p:sp><p:nvSpPr><p:cNvPr id="12" name="Shape 12"/><p:cNvSpPr/><p:nvPr/></p:nvSpPr><p:spPr><a:xfrm><a:off x="566928" y="2154936"/><a:ext cx="3688080" cy="582168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3" name="Text 13"/><p:cNvSpPr txBox="1"/><p:nvPr/></p:nvSpPr><p:spPr><a:xfrm><a:off x="603504" y="2182368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Akademik yapay zekâ</a:t></a:r><a:endParaRPr lang="tr-TR" sz="925"/></a:p></p:txBody></p:sp><p:sp><p:nvSpPr><p:cNvPr id="14" name="Shape 14"/><p:cNvSpPr/><p:nvPr/></p:nvSpPr><p:spPr><a:xfrm><a:off x="4255008" y="2154936"/><a:ext cx="3688080" cy="582168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Text 15"/><p:cNvSpPr txBox="1"/><p:nvPr/></p:nvSpPr><p:spPr><a:xfrm><a:off x="4291584" y="2182368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19 / 20</a:t></a:r><a:endParaRPr lang="tr-TR" sz="925"/></a:p></p:txBody></p:sp><p:sp><p:nvSpPr><p:cNvPr id="16" name="Shape 16"/><p:cNvSpPr/><p:nvPr/></p:nvSpPr><p:spPr><a:xfrm><a:off x="7943088" y="2154936"/><a:ext cx="3688080" cy="582168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7" name="Text 17"/><p:cNvSpPr txBox="1"/><p:nvPr/></p:nvSpPr><p:spPr><a:xfrm><a:off x="7979664" y="2182368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%95</a:t></a:r><a:endParaRPr lang="tr-TR" sz="925"/></a:p></p:txBody></p:sp><p:sp><p:nvSpPr><p:cNvPr id="18" name="Shape 18"/><p:cNvSpPr/><p:nvPr/></p:nvSpPr><p:spPr><a:xfrm><a:off x="566928" y="2737104"/><a:ext cx="3688080" cy="582168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Text 19"/><p:cNvSpPr txBox="1"/><p:nvPr/></p:nvSpPr><p:spPr><a:xfrm><a:off x="603504" y="2764536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Okulda telefon kullanımı</a:t></a:r><a:endParaRPr lang="tr-TR" sz="925"/></a:p></p:txBody></p:sp><p:sp><p:nvSpPr><p:cNvPr id="20" name="Shape 20"/><p:cNvSpPr/><p:nvPr/></p:nvSpPr><p:spPr><a:xfrm><a:off x="4255008" y="2737104"/><a:ext cx="3688080" cy="582168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1" name="Text 21"/><p:cNvSpPr txBox="1"/><p:nvPr/></p:nvSpPr><p:spPr><a:xfrm><a:off x="4291584" y="2764536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18 / 20</a:t></a:r><a:endParaRPr lang="tr-TR" sz="925"/></a:p></p:txBody></p:sp><p:sp><p:nvSpPr><p:cNvPr id="22" name="Shape 22"/><p:cNvSpPr/><p:nvPr/></p:nvSpPr><p:spPr><a:xfrm><a:off x="7943088" y="2737104"/><a:ext cx="3688080" cy="582168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Text 23"/><p:cNvSpPr txBox="1"/><p:nvPr/></p:nvSpPr><p:spPr><a:xfrm><a:off x="7979664" y="2764536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%90</a:t></a:r><a:endParaRPr lang="tr-TR" sz="925"/></a:p></p:txBody></p:sp><p:sp><p:nvSpPr><p:cNvPr id="24" name="Shape 24"/><p:cNvSpPr/><p:nvPr/></p:nvSpPr><p:spPr><a:xfrm><a:off x="566928" y="3319272"/><a:ext cx="3688080" cy="582168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5" name="Text 25"/><p:cNvSpPr txBox="1"/><p:nvPr/></p:nvSpPr><p:spPr><a:xfrm><a:off x="603504" y="3346704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Kampüs gece ulaşımı</a:t></a:r><a:endParaRPr lang="tr-TR" sz="925"/></a:p></p:txBody></p:sp><p:sp><p:nvSpPr><p:cNvPr id="26" name="Shape 26"/><p:cNvSpPr/><p:nvPr/></p:nvSpPr><p:spPr><a:xfrm><a:off x="4255008" y="3319272"/><a:ext cx="3688080" cy="582168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7" name="Text 27"/><p:cNvSpPr txBox="1"/><p:nvPr/></p:nvSpPr><p:spPr><a:xfrm><a:off x="4291584" y="3346704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19 / 20</a:t></a:r><a:endParaRPr lang="tr-TR" sz="925"/></a:p></p:txBody></p:sp><p:sp><p:nvSpPr><p:cNvPr id="28" name="Shape 28"/><p:cNvSpPr/><p:nvPr/></p:nvSpPr><p:spPr><a:xfrm><a:off x="7943088" y="3319272"/><a:ext cx="3688080" cy="582168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9" name="Text 29"/><p:cNvSpPr txBox="1"/><p:nvPr/></p:nvSpPr><p:spPr><a:xfrm><a:off x="7979664" y="3346704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%95</a:t></a:r><a:endParaRPr lang="tr-TR" sz="925"/></a:p></p:txBody></p:sp><p:sp><p:nvSpPr><p:cNvPr id="30" name="Shape 30"/><p:cNvSpPr/><p:nvPr/></p:nvSpPr><p:spPr><a:xfrm><a:off x="566928" y="3901440"/><a:ext cx="3688080" cy="582168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1" name="Text 31"/><p:cNvSpPr txBox="1"/><p:nvPr/></p:nvSpPr><p:spPr><a:xfrm><a:off x="603504" y="3928872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Uzaktan çalışma</a:t></a:r><a:endParaRPr lang="tr-TR" sz="925"/></a:p></p:txBody></p:sp><p:sp><p:nvSpPr><p:cNvPr id="32" name="Shape 32"/><p:cNvSpPr/><p:nvPr/></p:nvSpPr><p:spPr><a:xfrm><a:off x="4255008" y="3901440"/><a:ext cx="3688080" cy="582168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3" name="Text 33"/><p:cNvSpPr txBox="1"/><p:nvPr/></p:nvSpPr><p:spPr><a:xfrm><a:off x="4291584" y="3928872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18 / 20</a:t></a:r><a:endParaRPr lang="tr-TR" sz="925"/></a:p></p:txBody></p:sp><p:sp><p:nvSpPr><p:cNvPr id="34" name="Shape 34"/><p:cNvSpPr/><p:nvPr/></p:nvSpPr><p:spPr><a:xfrm><a:off x="7943088" y="3901440"/><a:ext cx="3688080" cy="582168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5" name="Text 35"/><p:cNvSpPr txBox="1"/><p:nvPr/></p:nvSpPr><p:spPr><a:xfrm><a:off x="7979664" y="3928872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%90</a:t></a:r><a:endParaRPr lang="tr-TR" sz="925"/></a:p></p:txBody></p:sp><p:sp><p:nvSpPr><p:cNvPr id="36" name="Shape 36"/><p:cNvSpPr/><p:nvPr/></p:nvSpPr><p:spPr><a:xfrm><a:off x="566928" y="4483608"/><a:ext cx="3688080" cy="582168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7" name="Text 37"/><p:cNvSpPr txBox="1"/><p:nvPr/></p:nvSpPr><p:spPr><a:xfrm><a:off x="603504" y="4511040"/><a:ext cx="3614928" cy="527304"/></a:xfrm><a:prstGeom prst="rect"><a:avLst/></a:prstGeom><a:noFill/><a:ln><a:noFill/></a:ln></p:spPr><p:txBody><a:bodyPr wrap="square" anchor="t" lIns="0" rIns="0" tIns="0" bIns="0"/><a:lstStyle/><a:p><a:pPr/><a:r><a:rPr lang="tr-TR" sz="925" b="1"><a:solidFill><a:srgbClr val="F8FAFC"/></a:solidFill><a:latin typeface="Aptos"/><a:t>TOPLAM</a:t></a:r><a:endParaRPr lang="tr-TR" sz="925"/></a:p></p:txBody></p:sp><p:sp><p:nvSpPr><p:cNvPr id="38" name="Shape 38"/><p:cNvSpPr/><p:nvPr/></p:nvSpPr><p:spPr><a:xfrm><a:off x="4255008" y="4483608"/><a:ext cx="3688080" cy="582168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9" name="Text 39"/><p:cNvSpPr txBox="1"/><p:nvPr/></p:nvSpPr><p:spPr><a:xfrm><a:off x="4291584" y="4511040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74 / 80</a:t></a:r><a:endParaRPr lang="tr-TR" sz="925"/></a:p></p:txBody></p:sp><p:sp><p:nvSpPr><p:cNvPr id="40" name="Shape 40"/><p:cNvSpPr/><p:nvPr/></p:nvSpPr><p:spPr><a:xfrm><a:off x="7943088" y="4483608"/><a:ext cx="3688080" cy="582168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1" name="Text 41"/><p:cNvSpPr txBox="1"/><p:nvPr/></p:nvSpPr><p:spPr><a:xfrm><a:off x="7979664" y="4511040"/><a:ext cx="3614928" cy="527304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%92,5</a:t></a:r><a:endParaRPr lang="tr-TR" sz="925"/></a:p></p:txBody></p:sp><p:sp><p:nvSpPr><p:cNvPr id="42" name="Shape 42"/><p:cNvSpPr/><p:nvPr/></p:nvSpPr><p:spPr><a:xfrm><a:off x="566928" y="5340096"/><a:ext cx="5458968" cy="86868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3" name="Shape 43"/><p:cNvSpPr/><p:nvPr/></p:nvSpPr><p:spPr><a:xfrm><a:off x="566928" y="5340096"/><a:ext cx="50292" cy="86868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4" name="Text 44"/><p:cNvSpPr txBox="1"/><p:nvPr/></p:nvSpPr><p:spPr><a:xfrm><a:off x="731520" y="5449824"/><a:ext cx="5184648" cy="274320"/></a:xfrm><a:prstGeom prst="rect"><a:avLst/></a:prstGeom><a:noFill/><a:ln><a:noFill/></a:ln></p:spPr><p:txBody><a:bodyPr wrap="square" anchor="t" lIns="0" rIns="0" tIns="0" bIns="0"/><a:lstStyle/><a:p><a:pPr/><a:r><a:rPr lang="tr-TR" sz="1010" b="1"><a:solidFill><a:srgbClr val="22D3EE"/></a:solidFill><a:latin typeface="Aptos"/><a:t>Ana metrik</a:t></a:r><a:endParaRPr lang="tr-TR" sz="1010"/></a:p></p:txBody></p:sp><p:sp><p:nvSpPr><p:cNvPr id="45" name="Text 45"/><p:cNvSpPr txBox="1"/><p:nvPr/></p:nvSpPr><p:spPr><a:xfrm><a:off x="731520" y="5797296"/><a:ext cx="5184648" cy="320040"/></a:xfrm><a:prstGeom prst="rect"><a:avLst/></a:prstGeom><a:noFill/><a:ln><a:noFill/></a:ln></p:spPr><p:txBody><a:bodyPr wrap="square" anchor="t" lIns="0" rIns="0" tIns="0" bIns="0"/><a:lstStyle/><a:p><a:pPr/><a:r><a:rPr lang="tr-TR" sz="900"><a:solidFill><a:srgbClr val="F8FAFC"/></a:solidFill><a:latin typeface="Aptos"/><a:t>Accuracy: %92,5 · Macro-F1: %92,5.</a:t></a:r><a:endParaRPr lang="tr-TR" sz="900"/></a:p></p:txBody></p:sp><p:sp><p:nvSpPr><p:cNvPr id="46" name="Shape 46"/><p:cNvSpPr/><p:nvPr/></p:nvSpPr><p:spPr><a:xfrm><a:off x="6172200" y="5340096"/><a:ext cx="5458968" cy="86868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7" name="Shape 47"/><p:cNvSpPr/><p:nvPr/></p:nvSpPr><p:spPr><a:xfrm><a:off x="6172200" y="5340096"/><a:ext cx="50292" cy="86868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8" name="Text 48"/><p:cNvSpPr txBox="1"/><p:nvPr/></p:nvSpPr><p:spPr><a:xfrm><a:off x="6336792" y="5449824"/><a:ext cx="5184648" cy="274320"/></a:xfrm><a:prstGeom prst="rect"><a:avLst/></a:prstGeom><a:noFill/><a:ln><a:noFill/></a:ln></p:spPr><p:txBody><a:bodyPr wrap="square" anchor="t" lIns="0" rIns="0" tIns="0" bIns="0"/><a:lstStyle/><a:p><a:pPr/><a:r><a:rPr lang="tr-TR" sz="1010" b="1"><a:solidFill><a:srgbClr val="34D399"/></a:solidFill><a:latin typeface="Aptos"/><a:t>Hata politikası</a:t></a:r><a:endParaRPr lang="tr-TR" sz="1010"/></a:p></p:txBody></p:sp><p:sp><p:nvSpPr><p:cNvPr id="49" name="Text 49"/><p:cNvSpPr txBox="1"/><p:nvPr/></p:nvSpPr><p:spPr><a:xfrm><a:off x="6336792" y="5797296"/><a:ext cx="5184648" cy="320040"/></a:xfrm><a:prstGeom prst="rect"><a:avLst/></a:prstGeom><a:noFill/><a:ln><a:noFill/></a:ln></p:spPr><p:txBody><a:bodyPr wrap="square" anchor="t" lIns="0" rIns="0" tIns="0" bIns="0"/><a:lstStyle/><a:p><a:pPr/><a:r><a:rPr lang="tr-TR" sz="900"><a:solidFill><a:srgbClr val="F8FAFC"/></a:solidFill><a:latin typeface="Aptos"/><a:t>6 hata gizlenmedi; beklenen ve gerçekleşen sınıfın ayrıntıları Teknik Doğrulama ekranında gösterilecek şekilde tutuldu.</a:t></a:r><a:endParaRPr lang="tr-TR" sz="900"/></a:p></p:txBody></p:sp><p:sp><p:nvSpPr><p:cNvPr id="50" name="Text 50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51" name="Text 51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28</a:t></a:r><a:endParaRPr lang="tr-TR" sz="820"/></a:p></p:txBody></p:sp></p:spTree></p:cSld><p:clrMapOvr><a:masterClrMapping/></p:clrMapOvr></p:sld>
</file>

<file path=ppt/slides/slide29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Sonuçlar · sınıf bazında ve karışıklık matrisi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Koşullu/dengeli görüşler ve karşı/sınırlayıcı görüşler ayrı izleniyor.</a:t></a:r><a:endParaRPr lang="tr-TR" sz="1020"/></a:p></p:txBody></p:sp><p:sp><p:nvSpPr><p:cNvPr id="6" name="Shape 6"/><p:cNvSpPr/><p:nvPr/></p:nvSpPr><p:spPr><a:xfrm><a:off x="566928" y="1572768"/><a:ext cx="2212848" cy="698602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Text 7"/><p:cNvSpPr txBox="1"/><p:nvPr/></p:nvSpPr><p:spPr><a:xfrm><a:off x="603504" y="1600200"/><a:ext cx="2139696" cy="643738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Görüş sınıfı</a:t></a:r><a:endParaRPr lang="tr-TR" sz="1000"/></a:p></p:txBody></p:sp><p:sp><p:nvSpPr><p:cNvPr id="8" name="Shape 8"/><p:cNvSpPr/><p:nvPr/></p:nvSpPr><p:spPr><a:xfrm><a:off x="2779776" y="1572768"/><a:ext cx="2212848" cy="698602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9" name="Text 9"/><p:cNvSpPr txBox="1"/><p:nvPr/></p:nvSpPr><p:spPr><a:xfrm><a:off x="2816352" y="1600200"/><a:ext cx="2139696" cy="643738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Precision</a:t></a:r><a:endParaRPr lang="tr-TR" sz="1000"/></a:p></p:txBody></p:sp><p:sp><p:nvSpPr><p:cNvPr id="10" name="Shape 10"/><p:cNvSpPr/><p:nvPr/></p:nvSpPr><p:spPr><a:xfrm><a:off x="4992624" y="1572768"/><a:ext cx="2212848" cy="698602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Text 11"/><p:cNvSpPr txBox="1"/><p:nvPr/></p:nvSpPr><p:spPr><a:xfrm><a:off x="5029200" y="1600200"/><a:ext cx="2139696" cy="643738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Recall</a:t></a:r><a:endParaRPr lang="tr-TR" sz="1000"/></a:p></p:txBody></p:sp><p:sp><p:nvSpPr><p:cNvPr id="12" name="Shape 12"/><p:cNvSpPr/><p:nvPr/></p:nvSpPr><p:spPr><a:xfrm><a:off x="7205472" y="1572768"/><a:ext cx="2212848" cy="698602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3" name="Text 13"/><p:cNvSpPr txBox="1"/><p:nvPr/></p:nvSpPr><p:spPr><a:xfrm><a:off x="7242048" y="1600200"/><a:ext cx="2139696" cy="643738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F1</a:t></a:r><a:endParaRPr lang="tr-TR" sz="1000"/></a:p></p:txBody></p:sp><p:sp><p:nvSpPr><p:cNvPr id="14" name="Shape 14"/><p:cNvSpPr/><p:nvPr/></p:nvSpPr><p:spPr><a:xfrm><a:off x="9418320" y="1572768"/><a:ext cx="2212848" cy="698602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Text 15"/><p:cNvSpPr txBox="1"/><p:nvPr/></p:nvSpPr><p:spPr><a:xfrm><a:off x="9454896" y="1600200"/><a:ext cx="2139696" cy="643738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Destek</a:t></a:r><a:endParaRPr lang="tr-TR" sz="1000"/></a:p></p:txBody></p:sp><p:sp><p:nvSpPr><p:cNvPr id="16" name="Shape 16"/><p:cNvSpPr/><p:nvPr/></p:nvSpPr><p:spPr><a:xfrm><a:off x="566928" y="2271370"/><a:ext cx="2212848" cy="698602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7" name="Text 17"/><p:cNvSpPr txBox="1"/><p:nvPr/></p:nvSpPr><p:spPr><a:xfrm><a:off x="603504" y="2298802"/><a:ext cx="2139696" cy="643738"/></a:xfrm><a:prstGeom prst="rect"><a:avLst/></a:prstGeom><a:noFill/><a:ln><a:noFill/></a:ln></p:spPr><p:txBody><a:bodyPr wrap="square" anchor="t" lIns="0" rIns="0" tIns="0" bIns="0"/><a:lstStyle/><a:p><a:pPr/><a:r><a:rPr lang="tr-TR" sz="925" b="1"><a:solidFill><a:srgbClr val="F8FAFC"/></a:solidFill><a:latin typeface="Aptos"/><a:t>Destekleyen</a:t></a:r><a:endParaRPr lang="tr-TR" sz="925"/></a:p></p:txBody></p:sp><p:sp><p:nvSpPr><p:cNvPr id="18" name="Shape 18"/><p:cNvSpPr/><p:nvPr/></p:nvSpPr><p:spPr><a:xfrm><a:off x="2779776" y="2271370"/><a:ext cx="2212848" cy="698602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Text 19"/><p:cNvSpPr txBox="1"/><p:nvPr/></p:nvSpPr><p:spPr><a:xfrm><a:off x="2816352" y="2298802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%100</a:t></a:r><a:endParaRPr lang="tr-TR" sz="925"/></a:p></p:txBody></p:sp><p:sp><p:nvSpPr><p:cNvPr id="20" name="Shape 20"/><p:cNvSpPr/><p:nvPr/></p:nvSpPr><p:spPr><a:xfrm><a:off x="4992624" y="2271370"/><a:ext cx="2212848" cy="698602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1" name="Text 21"/><p:cNvSpPr txBox="1"/><p:nvPr/></p:nvSpPr><p:spPr><a:xfrm><a:off x="5029200" y="2298802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%85</a:t></a:r><a:endParaRPr lang="tr-TR" sz="925"/></a:p></p:txBody></p:sp><p:sp><p:nvSpPr><p:cNvPr id="22" name="Shape 22"/><p:cNvSpPr/><p:nvPr/></p:nvSpPr><p:spPr><a:xfrm><a:off x="7205472" y="2271370"/><a:ext cx="2212848" cy="698602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Text 23"/><p:cNvSpPr txBox="1"/><p:nvPr/></p:nvSpPr><p:spPr><a:xfrm><a:off x="7242048" y="2298802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%91,9</a:t></a:r><a:endParaRPr lang="tr-TR" sz="925"/></a:p></p:txBody></p:sp><p:sp><p:nvSpPr><p:cNvPr id="24" name="Shape 24"/><p:cNvSpPr/><p:nvPr/></p:nvSpPr><p:spPr><a:xfrm><a:off x="9418320" y="2271370"/><a:ext cx="2212848" cy="698602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5" name="Text 25"/><p:cNvSpPr txBox="1"/><p:nvPr/></p:nvSpPr><p:spPr><a:xfrm><a:off x="9454896" y="2298802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20</a:t></a:r><a:endParaRPr lang="tr-TR" sz="925"/></a:p></p:txBody></p:sp><p:sp><p:nvSpPr><p:cNvPr id="26" name="Shape 26"/><p:cNvSpPr/><p:nvPr/></p:nvSpPr><p:spPr><a:xfrm><a:off x="566928" y="2969971"/><a:ext cx="2212848" cy="698602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7" name="Text 27"/><p:cNvSpPr txBox="1"/><p:nvPr/></p:nvSpPr><p:spPr><a:xfrm><a:off x="603504" y="2997403"/><a:ext cx="2139696" cy="643738"/></a:xfrm><a:prstGeom prst="rect"><a:avLst/></a:prstGeom><a:noFill/><a:ln><a:noFill/></a:ln></p:spPr><p:txBody><a:bodyPr wrap="square" anchor="t" lIns="0" rIns="0" tIns="0" bIns="0"/><a:lstStyle/><a:p><a:pPr/><a:r><a:rPr lang="tr-TR" sz="925" b="1"><a:solidFill><a:srgbClr val="F8FAFC"/></a:solidFill><a:latin typeface="Aptos"/><a:t>Karşı / Sınırlayıcı</a:t></a:r><a:endParaRPr lang="tr-TR" sz="925"/></a:p></p:txBody></p:sp><p:sp><p:nvSpPr><p:cNvPr id="28" name="Shape 28"/><p:cNvSpPr/><p:nvPr/></p:nvSpPr><p:spPr><a:xfrm><a:off x="2779776" y="2969971"/><a:ext cx="2212848" cy="698602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9" name="Text 29"/><p:cNvSpPr txBox="1"/><p:nvPr/></p:nvSpPr><p:spPr><a:xfrm><a:off x="2816352" y="2997403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%81,8</a:t></a:r><a:endParaRPr lang="tr-TR" sz="925"/></a:p></p:txBody></p:sp><p:sp><p:nvSpPr><p:cNvPr id="30" name="Shape 30"/><p:cNvSpPr/><p:nvPr/></p:nvSpPr><p:spPr><a:xfrm><a:off x="4992624" y="2969971"/><a:ext cx="2212848" cy="698602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1" name="Text 31"/><p:cNvSpPr txBox="1"/><p:nvPr/></p:nvSpPr><p:spPr><a:xfrm><a:off x="5029200" y="2997403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%90</a:t></a:r><a:endParaRPr lang="tr-TR" sz="925"/></a:p></p:txBody></p:sp><p:sp><p:nvSpPr><p:cNvPr id="32" name="Shape 32"/><p:cNvSpPr/><p:nvPr/></p:nvSpPr><p:spPr><a:xfrm><a:off x="7205472" y="2969971"/><a:ext cx="2212848" cy="698602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3" name="Text 33"/><p:cNvSpPr txBox="1"/><p:nvPr/></p:nvSpPr><p:spPr><a:xfrm><a:off x="7242048" y="2997403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%85,7</a:t></a:r><a:endParaRPr lang="tr-TR" sz="925"/></a:p></p:txBody></p:sp><p:sp><p:nvSpPr><p:cNvPr id="34" name="Shape 34"/><p:cNvSpPr/><p:nvPr/></p:nvSpPr><p:spPr><a:xfrm><a:off x="9418320" y="2969971"/><a:ext cx="2212848" cy="698602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5" name="Text 35"/><p:cNvSpPr txBox="1"/><p:nvPr/></p:nvSpPr><p:spPr><a:xfrm><a:off x="9454896" y="2997403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20</a:t></a:r><a:endParaRPr lang="tr-TR" sz="925"/></a:p></p:txBody></p:sp><p:sp><p:nvSpPr><p:cNvPr id="36" name="Shape 36"/><p:cNvSpPr/><p:nvPr/></p:nvSpPr><p:spPr><a:xfrm><a:off x="566928" y="3668573"/><a:ext cx="2212848" cy="698602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7" name="Text 37"/><p:cNvSpPr txBox="1"/><p:nvPr/></p:nvSpPr><p:spPr><a:xfrm><a:off x="603504" y="3696005"/><a:ext cx="2139696" cy="643738"/></a:xfrm><a:prstGeom prst="rect"><a:avLst/></a:prstGeom><a:noFill/><a:ln><a:noFill/></a:ln></p:spPr><p:txBody><a:bodyPr wrap="square" anchor="t" lIns="0" rIns="0" tIns="0" bIns="0"/><a:lstStyle/><a:p><a:pPr/><a:r><a:rPr lang="tr-TR" sz="925" b="1"><a:solidFill><a:srgbClr val="F8FAFC"/></a:solidFill><a:latin typeface="Aptos"/><a:t>Koşullu / Dengeli</a:t></a:r><a:endParaRPr lang="tr-TR" sz="925"/></a:p></p:txBody></p:sp><p:sp><p:nvSpPr><p:cNvPr id="38" name="Shape 38"/><p:cNvSpPr/><p:nvPr/></p:nvSpPr><p:spPr><a:xfrm><a:off x="2779776" y="3668573"/><a:ext cx="2212848" cy="698602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9" name="Text 39"/><p:cNvSpPr txBox="1"/><p:nvPr/></p:nvSpPr><p:spPr><a:xfrm><a:off x="2816352" y="3696005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%95,2</a:t></a:r><a:endParaRPr lang="tr-TR" sz="925"/></a:p></p:txBody></p:sp><p:sp><p:nvSpPr><p:cNvPr id="40" name="Shape 40"/><p:cNvSpPr/><p:nvPr/></p:nvSpPr><p:spPr><a:xfrm><a:off x="4992624" y="3668573"/><a:ext cx="2212848" cy="698602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1" name="Text 41"/><p:cNvSpPr txBox="1"/><p:nvPr/></p:nvSpPr><p:spPr><a:xfrm><a:off x="5029200" y="3696005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%100</a:t></a:r><a:endParaRPr lang="tr-TR" sz="925"/></a:p></p:txBody></p:sp><p:sp><p:nvSpPr><p:cNvPr id="42" name="Shape 42"/><p:cNvSpPr/><p:nvPr/></p:nvSpPr><p:spPr><a:xfrm><a:off x="7205472" y="3668573"/><a:ext cx="2212848" cy="698602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3" name="Text 43"/><p:cNvSpPr txBox="1"/><p:nvPr/></p:nvSpPr><p:spPr><a:xfrm><a:off x="7242048" y="3696005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%97,6</a:t></a:r><a:endParaRPr lang="tr-TR" sz="925"/></a:p></p:txBody></p:sp><p:sp><p:nvSpPr><p:cNvPr id="44" name="Shape 44"/><p:cNvSpPr/><p:nvPr/></p:nvSpPr><p:spPr><a:xfrm><a:off x="9418320" y="3668573"/><a:ext cx="2212848" cy="698602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5" name="Text 45"/><p:cNvSpPr txBox="1"/><p:nvPr/></p:nvSpPr><p:spPr><a:xfrm><a:off x="9454896" y="3696005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20</a:t></a:r><a:endParaRPr lang="tr-TR" sz="925"/></a:p></p:txBody></p:sp><p:sp><p:nvSpPr><p:cNvPr id="46" name="Shape 46"/><p:cNvSpPr/><p:nvPr/></p:nvSpPr><p:spPr><a:xfrm><a:off x="566928" y="4367174"/><a:ext cx="2212848" cy="698602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7" name="Text 47"/><p:cNvSpPr txBox="1"/><p:nvPr/></p:nvSpPr><p:spPr><a:xfrm><a:off x="603504" y="4394606"/><a:ext cx="2139696" cy="643738"/></a:xfrm><a:prstGeom prst="rect"><a:avLst/></a:prstGeom><a:noFill/><a:ln><a:noFill/></a:ln></p:spPr><p:txBody><a:bodyPr wrap="square" anchor="t" lIns="0" rIns="0" tIns="0" bIns="0"/><a:lstStyle/><a:p><a:pPr/><a:r><a:rPr lang="tr-TR" sz="925" b="1"><a:solidFill><a:srgbClr val="F8FAFC"/></a:solidFill><a:latin typeface="Aptos"/><a:t>Soru / Tarafsız</a:t></a:r><a:endParaRPr lang="tr-TR" sz="925"/></a:p></p:txBody></p:sp><p:sp><p:nvSpPr><p:cNvPr id="48" name="Shape 48"/><p:cNvSpPr/><p:nvPr/></p:nvSpPr><p:spPr><a:xfrm><a:off x="2779776" y="4367174"/><a:ext cx="2212848" cy="698602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9" name="Text 49"/><p:cNvSpPr txBox="1"/><p:nvPr/></p:nvSpPr><p:spPr><a:xfrm><a:off x="2816352" y="4394606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%95</a:t></a:r><a:endParaRPr lang="tr-TR" sz="925"/></a:p></p:txBody></p:sp><p:sp><p:nvSpPr><p:cNvPr id="50" name="Shape 50"/><p:cNvSpPr/><p:nvPr/></p:nvSpPr><p:spPr><a:xfrm><a:off x="4992624" y="4367174"/><a:ext cx="2212848" cy="698602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51" name="Text 51"/><p:cNvSpPr txBox="1"/><p:nvPr/></p:nvSpPr><p:spPr><a:xfrm><a:off x="5029200" y="4394606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%95</a:t></a:r><a:endParaRPr lang="tr-TR" sz="925"/></a:p></p:txBody></p:sp><p:sp><p:nvSpPr><p:cNvPr id="52" name="Shape 52"/><p:cNvSpPr/><p:nvPr/></p:nvSpPr><p:spPr><a:xfrm><a:off x="7205472" y="4367174"/><a:ext cx="2212848" cy="698602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53" name="Text 53"/><p:cNvSpPr txBox="1"/><p:nvPr/></p:nvSpPr><p:spPr><a:xfrm><a:off x="7242048" y="4394606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%95</a:t></a:r><a:endParaRPr lang="tr-TR" sz="925"/></a:p></p:txBody></p:sp><p:sp><p:nvSpPr><p:cNvPr id="54" name="Shape 54"/><p:cNvSpPr/><p:nvPr/></p:nvSpPr><p:spPr><a:xfrm><a:off x="9418320" y="4367174"/><a:ext cx="2212848" cy="698602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55" name="Text 55"/><p:cNvSpPr txBox="1"/><p:nvPr/></p:nvSpPr><p:spPr><a:xfrm><a:off x="9454896" y="4394606"/><a:ext cx="2139696" cy="643738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20</a:t></a:r><a:endParaRPr lang="tr-TR" sz="925"/></a:p></p:txBody></p:sp><p:sp><p:nvSpPr><p:cNvPr id="56" name="Shape 56"/><p:cNvSpPr/><p:nvPr/></p:nvSpPr><p:spPr><a:xfrm><a:off x="566928" y="5340096"/><a:ext cx="5458968" cy="86868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57" name="Shape 57"/><p:cNvSpPr/><p:nvPr/></p:nvSpPr><p:spPr><a:xfrm><a:off x="566928" y="5340096"/><a:ext cx="50292" cy="86868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58" name="Text 58"/><p:cNvSpPr txBox="1"/><p:nvPr/></p:nvSpPr><p:spPr><a:xfrm><a:off x="731520" y="5449824"/><a:ext cx="5184648" cy="274320"/></a:xfrm><a:prstGeom prst="rect"><a:avLst/></a:prstGeom><a:noFill/><a:ln><a:noFill/></a:ln></p:spPr><p:txBody><a:bodyPr wrap="square" anchor="t" lIns="0" rIns="0" tIns="0" bIns="0"/><a:lstStyle/><a:p><a:pPr/><a:r><a:rPr lang="tr-TR" sz="1010" b="1"><a:solidFill><a:srgbClr val="22D3EE"/></a:solidFill><a:latin typeface="Aptos"/><a:t>Gerçek karışıklık matrisi</a:t></a:r><a:endParaRPr lang="tr-TR" sz="1010"/></a:p></p:txBody></p:sp><p:sp><p:nvSpPr><p:cNvPr id="59" name="Text 59"/><p:cNvSpPr txBox="1"/><p:nvPr/></p:nvSpPr><p:spPr><a:xfrm><a:off x="731520" y="5797296"/><a:ext cx="5184648" cy="320040"/></a:xfrm><a:prstGeom prst="rect"><a:avLst/></a:prstGeom><a:noFill/><a:ln><a:noFill/></a:ln></p:spPr><p:txBody><a:bodyPr wrap="square" anchor="t" lIns="0" rIns="0" tIns="0" bIns="0"/><a:lstStyle/><a:p><a:pPr/><a:r><a:rPr lang="tr-TR" sz="900"><a:solidFill><a:srgbClr val="F8FAFC"/></a:solidFill><a:latin typeface="Aptos"/><a:t>Beklenen ↓ / Tahmin →</a:t></a:r><a:endParaRPr lang="tr-TR" sz="900"/></a:p><a:p><a:pPr/><a:r><a:rPr lang="tr-TR" sz="900"><a:solidFill><a:srgbClr val="F8FAFC"/></a:solidFill><a:latin typeface="Aptos"/><a:t>Destek: 17, 3, 0, 0</a:t></a:r><a:endParaRPr lang="tr-TR" sz="900"/></a:p><a:p><a:pPr/><a:r><a:rPr lang="tr-TR" sz="900"><a:solidFill><a:srgbClr val="F8FAFC"/></a:solidFill><a:latin typeface="Aptos"/><a:t>Karşı: 0, 18, 1, 1</a:t></a:r><a:endParaRPr lang="tr-TR" sz="900"/></a:p><a:p><a:pPr/><a:r><a:rPr lang="tr-TR" sz="900"><a:solidFill><a:srgbClr val="F8FAFC"/></a:solidFill><a:latin typeface="Aptos"/><a:t>Koşul: 0, 0, 20, 0</a:t></a:r><a:endParaRPr lang="tr-TR" sz="900"/></a:p><a:p><a:pPr/><a:r><a:rPr lang="tr-TR" sz="900"><a:solidFill><a:srgbClr val="F8FAFC"/></a:solidFill><a:latin typeface="Aptos"/><a:t>Soru: 0, 1, 0, 19</a:t></a:r><a:endParaRPr lang="tr-TR" sz="900"/></a:p></p:txBody></p:sp><p:sp><p:nvSpPr><p:cNvPr id="60" name="Shape 60"/><p:cNvSpPr/><p:nvPr/></p:nvSpPr><p:spPr><a:xfrm><a:off x="6172200" y="5340096"/><a:ext cx="5458968" cy="86868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61" name="Shape 61"/><p:cNvSpPr/><p:nvPr/></p:nvSpPr><p:spPr><a:xfrm><a:off x="6172200" y="5340096"/><a:ext cx="50292" cy="86868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62" name="Text 62"/><p:cNvSpPr txBox="1"/><p:nvPr/></p:nvSpPr><p:spPr><a:xfrm><a:off x="6336792" y="5449824"/><a:ext cx="5184648" cy="274320"/></a:xfrm><a:prstGeom prst="rect"><a:avLst/></a:prstGeom><a:noFill/><a:ln><a:noFill/></a:ln></p:spPr><p:txBody><a:bodyPr wrap="square" anchor="t" lIns="0" rIns="0" tIns="0" bIns="0"/><a:lstStyle/><a:p><a:pPr/><a:r><a:rPr lang="tr-TR" sz="1010" b="1"><a:solidFill><a:srgbClr val="34D399"/></a:solidFill><a:latin typeface="Aptos"/><a:t>Yorum</a:t></a:r><a:endParaRPr lang="tr-TR" sz="1010"/></a:p></p:txBody></p:sp><p:sp><p:nvSpPr><p:cNvPr id="63" name="Text 63"/><p:cNvSpPr txBox="1"/><p:nvPr/></p:nvSpPr><p:spPr><a:xfrm><a:off x="6336792" y="5797296"/><a:ext cx="5184648" cy="320040"/></a:xfrm><a:prstGeom prst="rect"><a:avLst/></a:prstGeom><a:noFill/><a:ln><a:noFill/></a:ln></p:spPr><p:txBody><a:bodyPr wrap="square" anchor="t" lIns="0" rIns="0" tIns="0" bIns="0"/><a:lstStyle/><a:p><a:pPr/><a:r><a:rPr lang="tr-TR" sz="900"><a:solidFill><a:srgbClr val="F8FAFC"/></a:solidFill><a:latin typeface="Aptos"/><a:t>Hatalar özellikle destekleyen ile karşı/sınırlayıcı sınırında görülüyor; bu nedenle sınıf bazlı sonuçları toplam doğruluğun yanında sunuyoruz.</a:t></a:r><a:endParaRPr lang="tr-TR" sz="900"/></a:p></p:txBody></p:sp><p:sp><p:nvSpPr><p:cNvPr id="64" name="Text 64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65" name="Text 65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29</a:t></a:r><a:endParaRPr lang="tr-TR" sz="820"/></a:p></p:txBody></p:sp></p:spTree></p:cSld><p:clrMapOvr><a:masterClrMapping/></p:clrMapOvr></p:sld>
</file>

<file path=ppt/slides/slide30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Zorluk kırılımı ve motor kullanımı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Kolay örneklerde başarı yüksek; örtük dil hâlâ geliştirme alanı.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Temel ifadeler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32 / 32 doğru · %100. Görüş yönü ve soru sinyali açık örneklerde hızlı yapısal yol etkili.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Zor / örtük ifadeler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42 / 48 doğru · %87,5. Olumsuzlama, koşul, örtük tutum veya kaynak eleştirisi gibi daha fazla bağlam gerektiren örnekler.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Motor sayacı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71 karar Türkçe yapısal sinyallerle; 9 karar gerçek Transformer çıkarımıyla üretildiği raporlandı.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Yorum sınırı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Bu sayaç test koşusundaki motor kullanımını gösterir; model doğruluğu, kullanıcı memnuniyeti veya iddianın gerçekliği anlamına gelmez.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30</a:t></a:r><a:endParaRPr lang="tr-TR" sz="820"/></a:p></p:txBody></p:sp></p:spTree></p:cSld><p:clrMapOvr><a:masterClrMapping/></p:clrMapOvr></p:sld>
</file>

<file path=ppt/slides/slide31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Gecikme, önbellek ve kaynak davranışı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Yerel CPU kullanımını mümkün kılmak için soğuk/sıcak ayrımı ölçülüyor.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Analiz gecikmesi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Yerel CPU ölçümünde ilk/soğuk analiz yaklaşık 2,7–3,1 saniye; önbellekli tekrar yaklaşık 10–12 milisaniye. Süre cihaz, model durumu ve içerik uzunluğuna göre değişir.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Demo invariant’ları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80 ham / 20 benzersiz yorum · kaynak farkındalığı %25 · 2 açık soru · Köprü sorusu ≤28 kelime · 9/9 değişmez korunuyor.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Kaynak kullanımı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Belirli GPU zorunlu değil. Model paketi ilk kez indirilecekse internet gerekebilir; normal ürün akışı dış API veya ücretli token servisine bağlı değildir.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Önbellek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İddia çıkarımlarında içerik kimliği tabanlı önbellek tekrar model çalıştırmayı azaltır; cache sonucu kullanıcı içeriğiyle teknik doğrulama setini karıştırmaz.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31</a:t></a:r><a:endParaRPr lang="tr-TR" sz="820"/></a:p></p:txBody></p:sp></p:spTree></p:cSld><p:clrMapOvr><a:masterClrMapping/></p:clrMapOvr></p:sld>
</file>

<file path=ppt/slides/slide32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Kalite kapısı · rapor ve final hazırlığı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Kodun çalışması, ölçümün saklanması ve demo akışının tekrarlanabilirliği ayrı kontrol ediliyor.</a:t></a:r><a:endParaRPr lang="tr-TR" sz="1020"/></a:p></p:txBody></p:sp><p:sp><p:nvSpPr><p:cNvPr id="6" name="Shape 6"/><p:cNvSpPr/><p:nvPr/></p:nvSpPr><p:spPr><a:xfrm><a:off x="566928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v1.4.0 teknik rapor kanıtı</a:t></a:r><a:endParaRPr lang="tr-TR" sz="1170"/></a:p></p:txBody></p:sp><p:sp><p:nvSpPr><p:cNvPr id="9" name="Text 9"/><p:cNvSpPr txBox="1"/><p:nvPr/></p:nvSpPr><p:spPr><a:xfrm><a:off x="731520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43 test paketi · 808/808 başarılı · önceki regresyonlar 700/700 · yeni testler 108/108.</a:t></a:r><a:endParaRPr lang="tr-TR" sz="1060"/></a:p></p:txBody></p:sp><p:sp><p:nvSpPr><p:cNvPr id="10" name="Shape 10"/><p:cNvSpPr/><p:nvPr/></p:nvSpPr><p:spPr><a:xfrm><a:off x="4303776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4303776" y="1572768"/><a:ext cx="50292" cy="193852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4468368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34D399"/></a:solidFill><a:latin typeface="Aptos"/><a:t>Kod ve derleme</a:t></a:r><a:endParaRPr lang="tr-TR" sz="1170"/></a:p></p:txBody></p:sp><p:sp><p:nvSpPr><p:cNvPr id="13" name="Text 13"/><p:cNvSpPr txBox="1"/><p:nvPr/></p:nvSpPr><p:spPr><a:xfrm><a:off x="4468368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TypeScript typecheck başarılı · Python compileall başarılı · Next.js optimize production build başarılı.</a:t></a:r><a:endParaRPr lang="tr-TR" sz="1060"/></a:p></p:txBody></p:sp><p:sp><p:nvSpPr><p:cNvPr id="14" name="Shape 14"/><p:cNvSpPr/><p:nvPr/></p:nvSpPr><p:spPr><a:xfrm><a:off x="8040624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8040624" y="1572768"/><a:ext cx="50292" cy="1938528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8205216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BF24"/></a:solidFill><a:latin typeface="Aptos"/><a:t>Demo değişmezleri</a:t></a:r><a:endParaRPr lang="tr-TR" sz="1170"/></a:p></p:txBody></p:sp><p:sp><p:nvSpPr><p:cNvPr id="17" name="Text 17"/><p:cNvSpPr txBox="1"/><p:nvPr/></p:nvSpPr><p:spPr><a:xfrm><a:off x="8205216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9/9 demo invariant’ı; source awareness, açık soru sayısı, köprü kelime sınırı, tekilleştirme ve model sayaçları ayrı kontrol edilir.</a:t></a:r><a:endParaRPr lang="tr-TR" sz="1060"/></a:p></p:txBody></p:sp><p:sp><p:nvSpPr><p:cNvPr id="18" name="Shape 18"/><p:cNvSpPr/><p:nvPr/></p:nvSpPr><p:spPr><a:xfrm><a:off x="566928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566928" y="3685032"/><a:ext cx="50292" cy="1938528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731520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7185"/></a:solidFill><a:latin typeface="Aptos"/><a:t>Genişletilmiş finalist kontrolü</a:t></a:r><a:endParaRPr lang="tr-TR" sz="1170"/></a:p></p:txBody></p:sp><p:sp><p:nvSpPr><p:cNvPr id="21" name="Text 21"/><p:cNvSpPr txBox="1"/><p:nvPr/></p:nvSpPr><p:spPr><a:xfrm><a:off x="731520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Çalışma notlarında backend 1.245/1.245; Yanıt Koçu 34/34 regresyon + 743 senaryo; API smoke 35/35; LAN 4/4; readiness 5/5; npm audit 0.</a:t></a:r><a:endParaRPr lang="tr-TR" sz="1060"/></a:p></p:txBody></p:sp><p:sp><p:nvSpPr><p:cNvPr id="22" name="Shape 22"/><p:cNvSpPr/><p:nvPr/></p:nvSpPr><p:spPr><a:xfrm><a:off x="4303776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Shape 23"/><p:cNvSpPr/><p:nvPr/></p:nvSpPr><p:spPr><a:xfrm><a:off x="4303776" y="3685032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4" name="Text 24"/><p:cNvSpPr txBox="1"/><p:nvPr/></p:nvSpPr><p:spPr><a:xfrm><a:off x="4468368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Rapor ayrımı</a:t></a:r><a:endParaRPr lang="tr-TR" sz="1170"/></a:p></p:txBody></p:sp><p:sp><p:nvSpPr><p:cNvPr id="25" name="Text 25"/><p:cNvSpPr txBox="1"/><p:nvPr/></p:nvSpPr><p:spPr><a:xfrm><a:off x="4468368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808/808 rapor sürümünün kanıtıdır. 1.245/1.245 ve diğer genişletilmiş değerler final hazırlığı kontrolüdür; iki set tek toplam gibi sunulmamalıdır.</a:t></a:r><a:endParaRPr lang="tr-TR" sz="1060"/></a:p></p:txBody></p:sp><p:sp><p:nvSpPr><p:cNvPr id="26" name="Text 26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7" name="Text 27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32</a:t></a:r><a:endParaRPr lang="tr-TR" sz="820"/></a:p></p:txBody></p:sp></p:spTree></p:cSld><p:clrMapOvr><a:masterClrMapping/></p:clrMapOvr></p:sld>
</file>

<file path=ppt/slides/slide33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Güvenlik, gizlilik ve erişilebilirlik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Sorumlu sosyal yapay zekâ, teknik güvenlik ve kullanıcı kontrolünü birlikte gerektirir.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Veri ve gizlilik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Kullanıcı verisi ile elle etiketli doğrulama verisi ayrı tutulur. .env, veritabanı, sanal ortam, node_modules ve özel anahtarlar depoya eklenmez. Local-first/hybrid çalışma tercih edilir.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Yanıt güvenliği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Kişisel saldırı ve hakaret çıktıya sızmamalı; prompt/ara metin sızıntısı reddedilmeli; sayı, soru, kaynak ve görüş yönü korunmalı; yeni sonuç uydurulmamalı.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Arayüz erişilebilirliği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Klavye ile kullanım, görünür focus, skip link, live region geri bildirimi, mobil drawer ve reduced-motion desteği düşünülür.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Kullanıcı kontrolü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Yanıt otomatik paylaşılmaz. Kullanıcı öneriyi görür, değerlendirir ve göndermeye kendisi karar verir.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33</a:t></a:r><a:endParaRPr lang="tr-TR" sz="820"/></a:p></p:txBody></p:sp></p:spTree></p:cSld><p:clrMapOvr><a:masterClrMapping/></p:clrMapOvr></p:sld>
</file>

<file path=ppt/slides/slide34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Sınırlılıklar ve dürüstlük beyanı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Birinci olmak iddiası, eksikleri saklamakla değil, ölçülebilir sınırları doğru anlatmakla güçlenir.</a:t></a:r><a:endParaRPr lang="tr-TR" sz="1020"/></a:p></p:txBody></p:sp><p:sp><p:nvSpPr><p:cNvPr id="6" name="Shape 6"/><p:cNvSpPr/><p:nvPr/></p:nvSpPr><p:spPr><a:xfrm><a:off x="566928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Veri sınırı</a:t></a:r><a:endParaRPr lang="tr-TR" sz="1170"/></a:p></p:txBody></p:sp><p:sp><p:nvSpPr><p:cNvPr id="9" name="Text 9"/><p:cNvSpPr txBox="1"/><p:nvPr/></p:nvSpPr><p:spPr><a:xfrm><a:off x="731520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80 örneklik proje içi doğrulama seti genel nüfusa veya tüm sosyal medya diline genellenemez. 6 hata açıkça gösterilir.</a:t></a:r><a:endParaRPr lang="tr-TR" sz="1060"/></a:p></p:txBody></p:sp><p:sp><p:nvSpPr><p:cNvPr id="10" name="Shape 10"/><p:cNvSpPr/><p:nvPr/></p:nvSpPr><p:spPr><a:xfrm><a:off x="4303776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4303776" y="1572768"/><a:ext cx="50292" cy="193852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4468368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34D399"/></a:solidFill><a:latin typeface="Aptos"/><a:t>Kullanıcı etkisi</a:t></a:r><a:endParaRPr lang="tr-TR" sz="1170"/></a:p></p:txBody></p:sp><p:sp><p:nvSpPr><p:cNvPr id="13" name="Text 13"/><p:cNvSpPr txBox="1"/><p:nvPr/></p:nvSpPr><p:spPr><a:xfrm><a:off x="4468368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Gerçek kullanıcı pilotu henüz yapılmadı. Bu nedenle yapıcı dilin kullanıcı davranışını kesin olarak iyileştirdiği iddia edilmiyor.</a:t></a:r><a:endParaRPr lang="tr-TR" sz="1060"/></a:p></p:txBody></p:sp><p:sp><p:nvSpPr><p:cNvPr id="14" name="Shape 14"/><p:cNvSpPr/><p:nvPr/></p:nvSpPr><p:spPr><a:xfrm><a:off x="8040624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8040624" y="1572768"/><a:ext cx="50292" cy="1938528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8205216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BF24"/></a:solidFill><a:latin typeface="Aptos"/><a:t>Model sınırı</a:t></a:r><a:endParaRPr lang="tr-TR" sz="1170"/></a:p></p:txBody></p:sp><p:sp><p:nvSpPr><p:cNvPr id="17" name="Text 17"/><p:cNvSpPr txBox="1"/><p:nvPr/></p:nvSpPr><p:spPr><a:xfrm><a:off x="8205216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Canlı Qwen ağırlıkları mevcut test ortamında yeniden çalıştırılmadı. Güvenli yapısal yol, aday doğrulama ve fallback test edildi.</a:t></a:r><a:endParaRPr lang="tr-TR" sz="1060"/></a:p></p:txBody></p:sp><p:sp><p:nvSpPr><p:cNvPr id="18" name="Shape 18"/><p:cNvSpPr/><p:nvPr/></p:nvSpPr><p:spPr><a:xfrm><a:off x="566928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566928" y="3685032"/><a:ext cx="50292" cy="1938528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731520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7185"/></a:solidFill><a:latin typeface="Aptos"/><a:t>Dil sınırı</a:t></a:r><a:endParaRPr lang="tr-TR" sz="1170"/></a:p></p:txBody></p:sp><p:sp><p:nvSpPr><p:cNvPr id="21" name="Text 21"/><p:cNvSpPr txBox="1"/><p:nvPr/></p:nvSpPr><p:spPr><a:xfrm><a:off x="731520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Karmaşık, örtük, alaycı veya bağlama çok bağımlı cümlelerde hata olabilir; yeni veri ve kullanıcı pilotu gerekir.</a:t></a:r><a:endParaRPr lang="tr-TR" sz="1060"/></a:p></p:txBody></p:sp><p:sp><p:nvSpPr><p:cNvPr id="22" name="Shape 22"/><p:cNvSpPr/><p:nvPr/></p:nvSpPr><p:spPr><a:xfrm><a:off x="4303776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Shape 23"/><p:cNvSpPr/><p:nvPr/></p:nvSpPr><p:spPr><a:xfrm><a:off x="4303776" y="3685032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4" name="Text 24"/><p:cNvSpPr txBox="1"/><p:nvPr/></p:nvSpPr><p:spPr><a:xfrm><a:off x="4468368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Ürün sınırı</a:t></a:r><a:endParaRPr lang="tr-TR" sz="1170"/></a:p></p:txBody></p:sp><p:sp><p:nvSpPr><p:cNvPr id="25" name="Text 25"/><p:cNvSpPr txBox="1"/><p:nvPr/></p:nvSpPr><p:spPr><a:xfrm><a:off x="4468368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N-KÖPRÜ hakem veya fact-checker değildir; insanın karar verme ve doğrulama sorumluluğunu ortadan kaldırmaz.</a:t></a:r><a:endParaRPr lang="tr-TR" sz="1060"/></a:p></p:txBody></p:sp><p:sp><p:nvSpPr><p:cNvPr id="26" name="Text 26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7" name="Text 27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34</a:t></a:r><a:endParaRPr lang="tr-TR" sz="820"/></a:p></p:txBody></p:sp></p:spTree></p:cSld><p:clrMapOvr><a:masterClrMapping/></p:clrMapOvr></p:sld>
</file>

<file path=ppt/slides/slide35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Etkiyi nasıl ölçeceğiz?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Pilot yapılmadan kullanıcı etkisi sonucu söylemiyoruz; ölçüm tasarımını hazır tutuyoruz.</a:t></a:r><a:endParaRPr lang="tr-TR" sz="1020"/></a:p></p:txBody></p:sp><p:sp><p:nvSpPr><p:cNvPr id="6" name="Shape 6"/><p:cNvSpPr/><p:nvPr/></p:nvSpPr><p:spPr><a:xfrm><a:off x="566928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Tasarım</a:t></a:r><a:endParaRPr lang="tr-TR" sz="1170"/></a:p></p:txBody></p:sp><p:sp><p:nvSpPr><p:cNvPr id="9" name="Text 9"/><p:cNvSpPr txBox="1"/><p:nvPr/></p:nvSpPr><p:spPr><a:xfrm><a:off x="731520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Anonim, karşıt dengeli AB/BA faz sırası; katılımcı onamı; iki kullanım sırasının etkisini dengeleme.</a:t></a:r><a:endParaRPr lang="tr-TR" sz="1060"/></a:p></p:txBody></p:sp><p:sp><p:nvSpPr><p:cNvPr id="10" name="Shape 10"/><p:cNvSpPr/><p:nvPr/></p:nvSpPr><p:spPr><a:xfrm><a:off x="4303776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4303776" y="1572768"/><a:ext cx="50292" cy="193852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4468368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34D399"/></a:solidFill><a:latin typeface="Aptos"/><a:t>Ölçümler</a:t></a:r><a:endParaRPr lang="tr-TR" sz="1170"/></a:p></p:txBody></p:sp><p:sp><p:nvSpPr><p:cNvPr id="13" name="Text 13"/><p:cNvSpPr txBox="1"/><p:nvPr/></p:nvSpPr><p:spPr><a:xfrm><a:off x="4468368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Görevi tamamlama süresi · yanıt açıklığı · katılımcının güven değerlendirmesi.</a:t></a:r><a:endParaRPr lang="tr-TR" sz="1060"/></a:p></p:txBody></p:sp><p:sp><p:nvSpPr><p:cNvPr id="14" name="Shape 14"/><p:cNvSpPr/><p:nvPr/></p:nvSpPr><p:spPr><a:xfrm><a:off x="8040624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8040624" y="1572768"/><a:ext cx="50292" cy="1938528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8205216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BF24"/></a:solidFill><a:latin typeface="Aptos"/><a:t>Örneklem ve çıktı</a:t></a:r><a:endParaRPr lang="tr-TR" sz="1170"/></a:p></p:txBody></p:sp><p:sp><p:nvSpPr><p:cNvPr id="17" name="Text 17"/><p:cNvSpPr txBox="1"/><p:nvPr/></p:nvSpPr><p:spPr><a:xfrm><a:off x="8205216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Minimum n=8 planı; verilerin CSV olarak dışa aktarılması; ham ve özet sonuçların ayrılması.</a:t></a:r><a:endParaRPr lang="tr-TR" sz="1060"/></a:p></p:txBody></p:sp><p:sp><p:nvSpPr><p:cNvPr id="18" name="Shape 18"/><p:cNvSpPr/><p:nvPr/></p:nvSpPr><p:spPr><a:xfrm><a:off x="566928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566928" y="3685032"/><a:ext cx="50292" cy="1938528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731520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7185"/></a:solidFill><a:latin typeface="Aptos"/><a:t>Mevcut durum</a:t></a:r><a:endParaRPr lang="tr-TR" sz="1170"/></a:p></p:txBody></p:sp><p:sp><p:nvSpPr><p:cNvPr id="21" name="Text 21"/><p:cNvSpPr txBox="1"/><p:nvPr/></p:nvSpPr><p:spPr><a:xfrm><a:off x="731520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Gerçek oturumlar henüz yapılmadı. Bu nedenle herhangi bir etki büyüklüğü, kullanıcı memnuniyeti veya davranış değişimi sonucu sunulmuyor.</a:t></a:r><a:endParaRPr lang="tr-TR" sz="1060"/></a:p></p:txBody></p:sp><p:sp><p:nvSpPr><p:cNvPr id="22" name="Shape 22"/><p:cNvSpPr/><p:nvPr/></p:nvSpPr><p:spPr><a:xfrm><a:off x="4303776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Shape 23"/><p:cNvSpPr/><p:nvPr/></p:nvSpPr><p:spPr><a:xfrm><a:off x="4303776" y="3685032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4" name="Text 24"/><p:cNvSpPr txBox="1"/><p:nvPr/></p:nvSpPr><p:spPr><a:xfrm><a:off x="4468368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Sonraki adım</a:t></a:r><a:endParaRPr lang="tr-TR" sz="1170"/></a:p></p:txBody></p:sp><p:sp><p:nvSpPr><p:cNvPr id="25" name="Text 25"/><p:cNvSpPr txBox="1"/><p:nvPr/></p:nvSpPr><p:spPr><a:xfrm><a:off x="4468368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Pilot verisiyle hangi modülün hangi ölçümde değişim sağladığı ayrı incelenecek; teknik doğruluk ile kullanıcı etkisi aynı metrikte birleştirilmeyecek.</a:t></a:r><a:endParaRPr lang="tr-TR" sz="1060"/></a:p></p:txBody></p:sp><p:sp><p:nvSpPr><p:cNvPr id="26" name="Text 26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7" name="Text 27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35</a:t></a:r><a:endParaRPr lang="tr-TR" sz="820"/></a:p></p:txBody></p:sp></p:spTree></p:cSld><p:clrMapOvr><a:masterClrMapping/></p:clrMapOvr></p:sld>
</file>

<file path=ppt/slides/slide36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Final demo akışı · 4 dakika 30 saniye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Tek bir örnek tartışma üzerinden baştan sona ürün davranışı.</a:t></a:r><a:endParaRPr lang="tr-TR" sz="1020"/></a:p></p:txBody></p:sp><p:sp><p:nvSpPr><p:cNvPr id="6" name="Shape 6"/><p:cNvSpPr/><p:nvPr/></p:nvSpPr><p:spPr><a:xfrm><a:off x="566928" y="1572768"/><a:ext cx="3688080" cy="436626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Text 7"/><p:cNvSpPr txBox="1"/><p:nvPr/></p:nvSpPr><p:spPr><a:xfrm><a:off x="603504" y="1600200"/><a:ext cx="3614928" cy="381762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Süre</a:t></a:r><a:endParaRPr lang="tr-TR" sz="1000"/></a:p></p:txBody></p:sp><p:sp><p:nvSpPr><p:cNvPr id="8" name="Shape 8"/><p:cNvSpPr/><p:nvPr/></p:nvSpPr><p:spPr><a:xfrm><a:off x="4255008" y="1572768"/><a:ext cx="3688080" cy="436626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9" name="Text 9"/><p:cNvSpPr txBox="1"/><p:nvPr/></p:nvSpPr><p:spPr><a:xfrm><a:off x="4291584" y="1600200"/><a:ext cx="3614928" cy="381762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Gösterilecek bölüm</a:t></a:r><a:endParaRPr lang="tr-TR" sz="1000"/></a:p></p:txBody></p:sp><p:sp><p:nvSpPr><p:cNvPr id="10" name="Shape 10"/><p:cNvSpPr/><p:nvPr/></p:nvSpPr><p:spPr><a:xfrm><a:off x="7943088" y="1572768"/><a:ext cx="3688080" cy="436626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Text 11"/><p:cNvSpPr txBox="1"/><p:nvPr/></p:nvSpPr><p:spPr><a:xfrm><a:off x="7979664" y="1600200"/><a:ext cx="3614928" cy="381762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Jüriye verilecek mesaj</a:t></a:r><a:endParaRPr lang="tr-TR" sz="1000"/></a:p></p:txBody></p:sp><p:sp><p:nvSpPr><p:cNvPr id="12" name="Shape 12"/><p:cNvSpPr/><p:nvPr/></p:nvSpPr><p:spPr><a:xfrm><a:off x="566928" y="2009394"/><a:ext cx="3688080" cy="436626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3" name="Text 13"/><p:cNvSpPr txBox="1"/><p:nvPr/></p:nvSpPr><p:spPr><a:xfrm><a:off x="603504" y="2036826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0:00–0:30</a:t></a:r><a:endParaRPr lang="tr-TR" sz="925"/></a:p></p:txBody></p:sp><p:sp><p:nvSpPr><p:cNvPr id="14" name="Shape 14"/><p:cNvSpPr/><p:nvPr/></p:nvSpPr><p:spPr><a:xfrm><a:off x="4255008" y="2009394"/><a:ext cx="3688080" cy="436626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Text 15"/><p:cNvSpPr txBox="1"/><p:nvPr/></p:nvSpPr><p:spPr><a:xfrm><a:off x="4291584" y="2036826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Problem + demo konusu</a:t></a:r><a:endParaRPr lang="tr-TR" sz="925"/></a:p></p:txBody></p:sp><p:sp><p:nvSpPr><p:cNvPr id="16" name="Shape 16"/><p:cNvSpPr/><p:nvPr/></p:nvSpPr><p:spPr><a:xfrm><a:off x="7943088" y="2009394"/><a:ext cx="3688080" cy="436626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7" name="Text 17"/><p:cNvSpPr txBox="1"/><p:nvPr/></p:nvSpPr><p:spPr><a:xfrm><a:off x="7979664" y="2036826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Uzun tartışmada yapı ve kanıt ihtiyacı kayboluyor.</a:t></a:r><a:endParaRPr lang="tr-TR" sz="925"/></a:p></p:txBody></p:sp><p:sp><p:nvSpPr><p:cNvPr id="18" name="Shape 18"/><p:cNvSpPr/><p:nvPr/></p:nvSpPr><p:spPr><a:xfrm><a:off x="566928" y="2446020"/><a:ext cx="3688080" cy="436626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Text 19"/><p:cNvSpPr txBox="1"/><p:nvPr/></p:nvSpPr><p:spPr><a:xfrm><a:off x="603504" y="2473452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0:30–1:00</a:t></a:r><a:endParaRPr lang="tr-TR" sz="925"/></a:p></p:txBody></p:sp><p:sp><p:nvSpPr><p:cNvPr id="20" name="Shape 20"/><p:cNvSpPr/><p:nvPr/></p:nvSpPr><p:spPr><a:xfrm><a:off x="4255008" y="2446020"/><a:ext cx="3688080" cy="436626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1" name="Text 21"/><p:cNvSpPr txBox="1"/><p:nvPr/></p:nvSpPr><p:spPr><a:xfrm><a:off x="4291584" y="2473452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Tartışmayı Anla</a:t></a:r><a:endParaRPr lang="tr-TR" sz="925"/></a:p></p:txBody></p:sp><p:sp><p:nvSpPr><p:cNvPr id="22" name="Shape 22"/><p:cNvSpPr/><p:nvPr/></p:nvSpPr><p:spPr><a:xfrm><a:off x="7943088" y="2446020"/><a:ext cx="3688080" cy="436626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Text 23"/><p:cNvSpPr txBox="1"/><p:nvPr/></p:nvSpPr><p:spPr><a:xfrm><a:off x="7979664" y="2473452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Yorumlar tekilleştiriliyor; genel yapı görünür oluyor.</a:t></a:r><a:endParaRPr lang="tr-TR" sz="925"/></a:p></p:txBody></p:sp><p:sp><p:nvSpPr><p:cNvPr id="24" name="Shape 24"/><p:cNvSpPr/><p:nvPr/></p:nvSpPr><p:spPr><a:xfrm><a:off x="566928" y="2882646"/><a:ext cx="3688080" cy="436626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5" name="Text 25"/><p:cNvSpPr txBox="1"/><p:nvPr/></p:nvSpPr><p:spPr><a:xfrm><a:off x="603504" y="2910078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1:00–1:45</a:t></a:r><a:endParaRPr lang="tr-TR" sz="925"/></a:p></p:txBody></p:sp><p:sp><p:nvSpPr><p:cNvPr id="26" name="Shape 26"/><p:cNvSpPr/><p:nvPr/></p:nvSpPr><p:spPr><a:xfrm><a:off x="4255008" y="2882646"/><a:ext cx="3688080" cy="436626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7" name="Text 27"/><p:cNvSpPr txBox="1"/><p:nvPr/></p:nvSpPr><p:spPr><a:xfrm><a:off x="4291584" y="2910078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Ortak Zemin + Görüş Haritası</a:t></a:r><a:endParaRPr lang="tr-TR" sz="925"/></a:p></p:txBody></p:sp><p:sp><p:nvSpPr><p:cNvPr id="28" name="Shape 28"/><p:cNvSpPr/><p:nvPr/></p:nvSpPr><p:spPr><a:xfrm><a:off x="7943088" y="2882646"/><a:ext cx="3688080" cy="436626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9" name="Text 29"/><p:cNvSpPr txBox="1"/><p:nvPr/></p:nvSpPr><p:spPr><a:xfrm><a:off x="7979664" y="2910078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Kabul, ayrışma ve koşullu görüşler ayrılıyor.</a:t></a:r><a:endParaRPr lang="tr-TR" sz="925"/></a:p></p:txBody></p:sp><p:sp><p:nvSpPr><p:cNvPr id="30" name="Shape 30"/><p:cNvSpPr/><p:nvPr/></p:nvSpPr><p:spPr><a:xfrm><a:off x="566928" y="3319272"/><a:ext cx="3688080" cy="436626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1" name="Text 31"/><p:cNvSpPr txBox="1"/><p:nvPr/></p:nvSpPr><p:spPr><a:xfrm><a:off x="603504" y="3346704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1:45–2:25</a:t></a:r><a:endParaRPr lang="tr-TR" sz="925"/></a:p></p:txBody></p:sp><p:sp><p:nvSpPr><p:cNvPr id="32" name="Shape 32"/><p:cNvSpPr/><p:nvPr/></p:nvSpPr><p:spPr><a:xfrm><a:off x="4255008" y="3319272"/><a:ext cx="3688080" cy="436626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3" name="Text 33"/><p:cNvSpPr txBox="1"/><p:nvPr/></p:nvSpPr><p:spPr><a:xfrm><a:off x="4291584" y="3346704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İddia Radarı + Cevapsız Sorular</a:t></a:r><a:endParaRPr lang="tr-TR" sz="925"/></a:p></p:txBody></p:sp><p:sp><p:nvSpPr><p:cNvPr id="34" name="Shape 34"/><p:cNvSpPr/><p:nvPr/></p:nvSpPr><p:spPr><a:xfrm><a:off x="7943088" y="3319272"/><a:ext cx="3688080" cy="436626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5" name="Text 35"/><p:cNvSpPr txBox="1"/><p:nvPr/></p:nvSpPr><p:spPr><a:xfrm><a:off x="7979664" y="3346704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%70 gibi iddialar doğrulanmış sayılmıyor; kaynak sorusu açılıyor.</a:t></a:r><a:endParaRPr lang="tr-TR" sz="925"/></a:p></p:txBody></p:sp><p:sp><p:nvSpPr><p:cNvPr id="36" name="Shape 36"/><p:cNvSpPr/><p:nvPr/></p:nvSpPr><p:spPr><a:xfrm><a:off x="566928" y="3755898"/><a:ext cx="3688080" cy="436626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7" name="Text 37"/><p:cNvSpPr txBox="1"/><p:nvPr/></p:nvSpPr><p:spPr><a:xfrm><a:off x="603504" y="3783330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2:25–3:25</a:t></a:r><a:endParaRPr lang="tr-TR" sz="925"/></a:p></p:txBody></p:sp><p:sp><p:nvSpPr><p:cNvPr id="38" name="Shape 38"/><p:cNvSpPr/><p:nvPr/></p:nvSpPr><p:spPr><a:xfrm><a:off x="4255008" y="3755898"/><a:ext cx="3688080" cy="436626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9" name="Text 39"/><p:cNvSpPr txBox="1"/><p:nvPr/></p:nvSpPr><p:spPr><a:xfrm><a:off x="4291584" y="3783330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Yanıt Koçu</a:t></a:r><a:endParaRPr lang="tr-TR" sz="925"/></a:p></p:txBody></p:sp><p:sp><p:nvSpPr><p:cNvPr id="40" name="Shape 40"/><p:cNvSpPr/><p:nvPr/></p:nvSpPr><p:spPr><a:xfrm><a:off x="7943088" y="3755898"/><a:ext cx="3688080" cy="436626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1" name="Text 41"/><p:cNvSpPr txBox="1"/><p:nvPr/></p:nvSpPr><p:spPr><a:xfrm><a:off x="7979664" y="3783330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Kötü mesajın saldırı kabuğu çıkıyor; sayı/soru/görüş korunuyor.</a:t></a:r><a:endParaRPr lang="tr-TR" sz="925"/></a:p></p:txBody></p:sp><p:sp><p:nvSpPr><p:cNvPr id="42" name="Shape 42"/><p:cNvSpPr/><p:nvPr/></p:nvSpPr><p:spPr><a:xfrm><a:off x="566928" y="4192524"/><a:ext cx="3688080" cy="436626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3" name="Text 43"/><p:cNvSpPr txBox="1"/><p:nvPr/></p:nvSpPr><p:spPr><a:xfrm><a:off x="603504" y="4219956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3:25–4:05</a:t></a:r><a:endParaRPr lang="tr-TR" sz="925"/></a:p></p:txBody></p:sp><p:sp><p:nvSpPr><p:cNvPr id="44" name="Shape 44"/><p:cNvSpPr/><p:nvPr/></p:nvSpPr><p:spPr><a:xfrm><a:off x="4255008" y="4192524"/><a:ext cx="3688080" cy="436626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5" name="Text 45"/><p:cNvSpPr txBox="1"/><p:nvPr/></p:nvSpPr><p:spPr><a:xfrm><a:off x="4291584" y="4219956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Köprü Oluştur</a:t></a:r><a:endParaRPr lang="tr-TR" sz="925"/></a:p></p:txBody></p:sp><p:sp><p:nvSpPr><p:cNvPr id="46" name="Shape 46"/><p:cNvSpPr/><p:nvPr/></p:nvSpPr><p:spPr><a:xfrm><a:off x="7943088" y="4192524"/><a:ext cx="3688080" cy="436626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7" name="Text 47"/><p:cNvSpPr txBox="1"/><p:nvPr/></p:nvSpPr><p:spPr><a:xfrm><a:off x="7979664" y="4219956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Ortak payda + kaygı + ilerleten soru üretiliyor.</a:t></a:r><a:endParaRPr lang="tr-TR" sz="925"/></a:p></p:txBody></p:sp><p:sp><p:nvSpPr><p:cNvPr id="48" name="Shape 48"/><p:cNvSpPr/><p:nvPr/></p:nvSpPr><p:spPr><a:xfrm><a:off x="566928" y="4629150"/><a:ext cx="3688080" cy="436626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49" name="Text 49"/><p:cNvSpPr txBox="1"/><p:nvPr/></p:nvSpPr><p:spPr><a:xfrm><a:off x="603504" y="4656582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4:05–4:30</a:t></a:r><a:endParaRPr lang="tr-TR" sz="925"/></a:p></p:txBody></p:sp><p:sp><p:nvSpPr><p:cNvPr id="50" name="Shape 50"/><p:cNvSpPr/><p:nvPr/></p:nvSpPr><p:spPr><a:xfrm><a:off x="4255008" y="4629150"/><a:ext cx="3688080" cy="436626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51" name="Text 51"/><p:cNvSpPr txBox="1"/><p:nvPr/></p:nvSpPr><p:spPr><a:xfrm><a:off x="4291584" y="4656582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Teknik doğrulama + sınır</a:t></a:r><a:endParaRPr lang="tr-TR" sz="925"/></a:p></p:txBody></p:sp><p:sp><p:nvSpPr><p:cNvPr id="52" name="Shape 52"/><p:cNvSpPr/><p:nvPr/></p:nvSpPr><p:spPr><a:xfrm><a:off x="7943088" y="4629150"/><a:ext cx="3688080" cy="436626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53" name="Text 53"/><p:cNvSpPr txBox="1"/><p:nvPr/></p:nvSpPr><p:spPr><a:xfrm><a:off x="7979664" y="4656582"/><a:ext cx="3614928" cy="381762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%92,5 proje içi ölçüm; 808/808 test; kullanıcı etkisi henüz ölçülmedi.</a:t></a:r><a:endParaRPr lang="tr-TR" sz="925"/></a:p></p:txBody></p:sp><p:sp><p:nvSpPr><p:cNvPr id="54" name="Shape 54"/><p:cNvSpPr/><p:nvPr/></p:nvSpPr><p:spPr><a:xfrm><a:off x="566928" y="5340096"/><a:ext cx="5458968" cy="74980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55" name="Shape 55"/><p:cNvSpPr/><p:nvPr/></p:nvSpPr><p:spPr><a:xfrm><a:off x="566928" y="5340096"/><a:ext cx="50292" cy="74980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56" name="Text 56"/><p:cNvSpPr txBox="1"/><p:nvPr/></p:nvSpPr><p:spPr><a:xfrm><a:off x="731520" y="5449824"/><a:ext cx="5184648" cy="274320"/></a:xfrm><a:prstGeom prst="rect"><a:avLst/></a:prstGeom><a:noFill/><a:ln><a:noFill/></a:ln></p:spPr><p:txBody><a:bodyPr wrap="square" anchor="t" lIns="0" rIns="0" tIns="0" bIns="0"/><a:lstStyle/><a:p><a:pPr/><a:r><a:rPr lang="tr-TR" sz="1010" b="1"><a:solidFill><a:srgbClr val="22D3EE"/></a:solidFill><a:latin typeface="Aptos"/><a:t>Demo öncesi</a:t></a:r><a:endParaRPr lang="tr-TR" sz="1010"/></a:p></p:txBody></p:sp><p:sp><p:nvSpPr><p:cNvPr id="57" name="Text 57"/><p:cNvSpPr txBox="1"/><p:nvPr/></p:nvSpPr><p:spPr><a:xfrm><a:off x="731520" y="5797296"/><a:ext cx="5184648" cy="201168"/></a:xfrm><a:prstGeom prst="rect"><a:avLst/></a:prstGeom><a:noFill/><a:ln><a:noFill/></a:ln></p:spPr><p:txBody><a:bodyPr wrap="square" anchor="t" lIns="0" rIns="0" tIns="0" bIns="0"/><a:lstStyle/><a:p><a:pPr/><a:r><a:rPr lang="tr-TR" sz="900"><a:solidFill><a:srgbClr val="F8FAFC"/></a:solidFill><a:latin typeface="Aptos"/><a:t>Readiness 5/5; veri, şema, demo, 8 çıktı ve köprü soru kelime sınırı kontrol edilir.</a:t></a:r><a:endParaRPr lang="tr-TR" sz="900"/></a:p></p:txBody></p:sp><p:sp><p:nvSpPr><p:cNvPr id="58" name="Shape 58"/><p:cNvSpPr/><p:nvPr/></p:nvSpPr><p:spPr><a:xfrm><a:off x="6172200" y="5340096"/><a:ext cx="5458968" cy="74980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59" name="Shape 59"/><p:cNvSpPr/><p:nvPr/></p:nvSpPr><p:spPr><a:xfrm><a:off x="6172200" y="5340096"/><a:ext cx="50292" cy="74980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60" name="Text 60"/><p:cNvSpPr txBox="1"/><p:nvPr/></p:nvSpPr><p:spPr><a:xfrm><a:off x="6336792" y="5449824"/><a:ext cx="5184648" cy="274320"/></a:xfrm><a:prstGeom prst="rect"><a:avLst/></a:prstGeom><a:noFill/><a:ln><a:noFill/></a:ln></p:spPr><p:txBody><a:bodyPr wrap="square" anchor="t" lIns="0" rIns="0" tIns="0" bIns="0"/><a:lstStyle/><a:p><a:pPr/><a:r><a:rPr lang="tr-TR" sz="1010" b="1"><a:solidFill><a:srgbClr val="34D399"/></a:solidFill><a:latin typeface="Aptos"/><a:t>Sunum disiplini</a:t></a:r><a:endParaRPr lang="tr-TR" sz="1010"/></a:p></p:txBody></p:sp><p:sp><p:nvSpPr><p:cNvPr id="61" name="Text 61"/><p:cNvSpPr txBox="1"/><p:nvPr/></p:nvSpPr><p:spPr><a:xfrm><a:off x="6336792" y="5797296"/><a:ext cx="5184648" cy="201168"/></a:xfrm><a:prstGeom prst="rect"><a:avLst/></a:prstGeom><a:noFill/><a:ln><a:noFill/></a:ln></p:spPr><p:txBody><a:bodyPr wrap="square" anchor="t" lIns="0" rIns="0" tIns="0" bIns="0"/><a:lstStyle/><a:p><a:pPr/><a:r><a:rPr lang="tr-TR" sz="900"><a:solidFill><a:srgbClr val="F8FAFC"/></a:solidFill><a:latin typeface="Aptos"/><a:t>Her sekmeye ayrı ayrı dağılmak yerine tek hikâye izlenir: problem → analiz → yanıt → köprü → kanıt.</a:t></a:r><a:endParaRPr lang="tr-TR" sz="900"/></a:p></p:txBody></p:sp><p:sp><p:nvSpPr><p:cNvPr id="62" name="Text 6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63" name="Text 6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36</a:t></a:r><a:endParaRPr lang="tr-TR" sz="820"/></a:p></p:txBody></p:sp></p:spTree></p:cSld><p:clrMapOvr><a:masterClrMapping/></p:clrMapOvr></p:sld>
</file>

<file path=ppt/slides/slide37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Jürinin sorabileceği sorular · hazır yanıtlar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Teknik ve etik sorulara kısa ama kanıta dayalı cevaplar.</a:t></a:r><a:endParaRPr lang="tr-TR" sz="1020"/></a:p></p:txBody></p:sp><p:sp><p:nvSpPr><p:cNvPr id="6" name="Shape 6"/><p:cNvSpPr/><p:nvPr/></p:nvSpPr><p:spPr><a:xfrm><a:off x="566928" y="1572768"/><a:ext cx="5532120" cy="555171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Text 7"/><p:cNvSpPr txBox="1"/><p:nvPr/></p:nvSpPr><p:spPr><a:xfrm><a:off x="603504" y="1600200"/><a:ext cx="5458968" cy="500307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Soru</a:t></a:r><a:endParaRPr lang="tr-TR" sz="1000"/></a:p></p:txBody></p:sp><p:sp><p:nvSpPr><p:cNvPr id="8" name="Shape 8"/><p:cNvSpPr/><p:nvPr/></p:nvSpPr><p:spPr><a:xfrm><a:off x="6099048" y="1572768"/><a:ext cx="5532120" cy="555171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9" name="Text 9"/><p:cNvSpPr txBox="1"/><p:nvPr/></p:nvSpPr><p:spPr><a:xfrm><a:off x="6135624" y="1600200"/><a:ext cx="5458968" cy="500307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Yanıt</a:t></a:r><a:endParaRPr lang="tr-TR" sz="1000"/></a:p></p:txBody></p:sp><p:sp><p:nvSpPr><p:cNvPr id="10" name="Shape 10"/><p:cNvSpPr/><p:nvPr/></p:nvSpPr><p:spPr><a:xfrm><a:off x="566928" y="2127939"/><a:ext cx="5532120" cy="55517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Text 11"/><p:cNvSpPr txBox="1"/><p:nvPr/></p:nvSpPr><p:spPr><a:xfrm><a:off x="603504" y="2155371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Bu bir fact-checker mı?</a:t></a:r><a:endParaRPr lang="tr-TR" sz="925"/></a:p></p:txBody></p:sp><p:sp><p:nvSpPr><p:cNvPr id="12" name="Shape 12"/><p:cNvSpPr/><p:nvPr/></p:nvSpPr><p:spPr><a:xfrm><a:off x="6099048" y="2127939"/><a:ext cx="5532120" cy="55517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3" name="Text 13"/><p:cNvSpPr txBox="1"/><p:nvPr/></p:nvSpPr><p:spPr><a:xfrm><a:off x="6135624" y="2155371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Hayır. İddia adayını ve kanıt ihtiyacını gösterir; doğruluk kararını otomatik vermez.</a:t></a:r><a:endParaRPr lang="tr-TR" sz="925"/></a:p></p:txBody></p:sp><p:sp><p:nvSpPr><p:cNvPr id="14" name="Shape 14"/><p:cNvSpPr/><p:nvPr/></p:nvSpPr><p:spPr><a:xfrm><a:off x="566928" y="2683111"/><a:ext cx="5532120" cy="55517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Text 15"/><p:cNvSpPr txBox="1"/><p:nvPr/></p:nvSpPr><p:spPr><a:xfrm><a:off x="603504" y="2710543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LLM olmadan çalışır mı?</a:t></a:r><a:endParaRPr lang="tr-TR" sz="925"/></a:p></p:txBody></p:sp><p:sp><p:nvSpPr><p:cNvPr id="16" name="Shape 16"/><p:cNvSpPr/><p:nvPr/></p:nvSpPr><p:spPr><a:xfrm><a:off x="6099048" y="2683111"/><a:ext cx="5532120" cy="55517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7" name="Text 17"/><p:cNvSpPr txBox="1"/><p:nvPr/></p:nvSpPr><p:spPr><a:xfrm><a:off x="6135624" y="2710543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Evet. Yapısal/yedek analiz çalışır; mDeBERTa ve Qwen isteğe bağlı katmanlardır.</a:t></a:r><a:endParaRPr lang="tr-TR" sz="925"/></a:p></p:txBody></p:sp><p:sp><p:nvSpPr><p:cNvPr id="18" name="Shape 18"/><p:cNvSpPr/><p:nvPr/></p:nvSpPr><p:spPr><a:xfrm><a:off x="566928" y="3238282"/><a:ext cx="5532120" cy="55517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Text 19"/><p:cNvSpPr txBox="1"/><p:nvPr/></p:nvSpPr><p:spPr><a:xfrm><a:off x="603504" y="3265714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%92,5 dış başarı mı?</a:t></a:r><a:endParaRPr lang="tr-TR" sz="925"/></a:p></p:txBody></p:sp><p:sp><p:nvSpPr><p:cNvPr id="20" name="Shape 20"/><p:cNvSpPr/><p:nvPr/></p:nvSpPr><p:spPr><a:xfrm><a:off x="6099048" y="3238282"/><a:ext cx="5532120" cy="55517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1" name="Text 21"/><p:cNvSpPr txBox="1"/><p:nvPr/></p:nvSpPr><p:spPr><a:xfrm><a:off x="6135624" y="3265714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Hayır. Dört konuda 80 proje içi elle etiketli örneğin doğrulamasıdır.</a:t></a:r><a:endParaRPr lang="tr-TR" sz="925"/></a:p></p:txBody></p:sp><p:sp><p:nvSpPr><p:cNvPr id="22" name="Shape 22"/><p:cNvSpPr/><p:nvPr/></p:nvSpPr><p:spPr><a:xfrm><a:off x="566928" y="3793454"/><a:ext cx="5532120" cy="55517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Text 23"/><p:cNvSpPr txBox="1"/><p:nvPr/></p:nvSpPr><p:spPr><a:xfrm><a:off x="603504" y="3820886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Yanıt Koçu anlamı değiştirir mi?</a:t></a:r><a:endParaRPr lang="tr-TR" sz="925"/></a:p></p:txBody></p:sp><p:sp><p:nvSpPr><p:cNvPr id="24" name="Shape 24"/><p:cNvSpPr/><p:nvPr/></p:nvSpPr><p:spPr><a:xfrm><a:off x="6099048" y="3793454"/><a:ext cx="5532120" cy="55517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5" name="Text 25"/><p:cNvSpPr txBox="1"/><p:nvPr/></p:nvSpPr><p:spPr><a:xfrm><a:off x="6135624" y="3820886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Sayı, soru, kaynak, koşul ve görüş yönü doğrulama kapılarıyla korunur; kötü aday reddedilir.</a:t></a:r><a:endParaRPr lang="tr-TR" sz="925"/></a:p></p:txBody></p:sp><p:sp><p:nvSpPr><p:cNvPr id="26" name="Shape 26"/><p:cNvSpPr/><p:nvPr/></p:nvSpPr><p:spPr><a:xfrm><a:off x="566928" y="4348625"/><a:ext cx="5532120" cy="55517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7" name="Text 27"/><p:cNvSpPr txBox="1"/><p:nvPr/></p:nvSpPr><p:spPr><a:xfrm><a:off x="603504" y="4376057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Model yoksa ne olur?</a:t></a:r><a:endParaRPr lang="tr-TR" sz="925"/></a:p></p:txBody></p:sp><p:sp><p:nvSpPr><p:cNvPr id="28" name="Shape 28"/><p:cNvSpPr/><p:nvPr/></p:nvSpPr><p:spPr><a:xfrm><a:off x="6099048" y="4348625"/><a:ext cx="5532120" cy="55517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9" name="Text 29"/><p:cNvSpPr txBox="1"/><p:nvPr/></p:nvSpPr><p:spPr><a:xfrm><a:off x="6135624" y="4376057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Güvenli hibrit veya bağlamsal fallback devreye girer; boş/saldırgan çıktı gösterilmez.</a:t></a:r><a:endParaRPr lang="tr-TR" sz="925"/></a:p></p:txBody></p:sp><p:sp><p:nvSpPr><p:cNvPr id="30" name="Shape 30"/><p:cNvSpPr/><p:nvPr/></p:nvSpPr><p:spPr><a:xfrm><a:off x="566928" y="4903797"/><a:ext cx="5532120" cy="55517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1" name="Text 31"/><p:cNvSpPr txBox="1"/><p:nvPr/></p:nvSpPr><p:spPr><a:xfrm><a:off x="603504" y="4931229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Kullanıcı etkisi kanıtlandı mı?</a:t></a:r><a:endParaRPr lang="tr-TR" sz="925"/></a:p></p:txBody></p:sp><p:sp><p:nvSpPr><p:cNvPr id="32" name="Shape 32"/><p:cNvSpPr/><p:nvPr/></p:nvSpPr><p:spPr><a:xfrm><a:off x="6099048" y="4903797"/><a:ext cx="5532120" cy="55517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3" name="Text 33"/><p:cNvSpPr txBox="1"/><p:nvPr/></p:nvSpPr><p:spPr><a:xfrm><a:off x="6135624" y="4931229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Henüz hayır. Anonim AB/BA pilot tasarımı hazır; gerçek oturum yapılmadı.</a:t></a:r><a:endParaRPr lang="tr-TR" sz="925"/></a:p></p:txBody></p:sp><p:sp><p:nvSpPr><p:cNvPr id="34" name="Text 34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35" name="Text 35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37</a:t></a:r><a:endParaRPr lang="tr-TR" sz="820"/></a:p></p:txBody></p:sp></p:spTree></p:cSld><p:clrMapOvr><a:masterClrMapping/></p:clrMapOvr></p:sld>
</file>

<file path=ppt/slides/slide38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Ekip ve sorumluluk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Mavi Fab.Lab. · TEKNOFEST 2026 Finalisti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Utku Kara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Kaptan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Ozan Umut Kara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PDR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Yusuf Furkan Çilingir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Çocuk Gelişimi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Hurşit Kandemir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Çocuk Gelişimi</a:t></a:r><a:endParaRPr lang="tr-TR" sz="1100"/></a:p></p:txBody></p:sp><p:sp><p:nvSpPr><p:cNvPr id="22" name="Shape 22"/><p:cNvSpPr/><p:nvPr/></p:nvSpPr><p:spPr><a:xfrm><a:off x="566928" y="5815584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Shape 23"/><p:cNvSpPr/><p:nvPr/></p:nvSpPr><p:spPr><a:xfrm><a:off x="566928" y="5815584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4" name="Text 24"/><p:cNvSpPr txBox="1"/><p:nvPr/></p:nvSpPr><p:spPr><a:xfrm><a:off x="731520" y="5925312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Nimet Sude Çilingir</a:t></a:r><a:endParaRPr lang="tr-TR" sz="1200"/></a:p></p:txBody></p:sp><p:sp><p:nvSpPr><p:cNvPr id="25" name="Text 25"/><p:cNvSpPr txBox="1"/><p:nvPr/></p:nvSpPr><p:spPr><a:xfrm><a:off x="731520" y="6272784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Lise 2</a:t></a:r><a:endParaRPr lang="tr-TR" sz="1100"/></a:p></p:txBody></p:sp><p:sp><p:nvSpPr><p:cNvPr id="26" name="Shape 26"/><p:cNvSpPr/><p:nvPr/></p:nvSpPr><p:spPr><a:xfrm><a:off x="6172200" y="5815584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7" name="Shape 27"/><p:cNvSpPr/><p:nvPr/></p:nvSpPr><p:spPr><a:xfrm><a:off x="6172200" y="5815584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8" name="Text 28"/><p:cNvSpPr txBox="1"/><p:nvPr/></p:nvSpPr><p:spPr><a:xfrm><a:off x="6336792" y="5925312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Ekip çalışması</a:t></a:r><a:endParaRPr lang="tr-TR" sz="1200"/></a:p></p:txBody></p:sp><p:sp><p:nvSpPr><p:cNvPr id="29" name="Text 29"/><p:cNvSpPr txBox="1"/><p:nvPr/></p:nvSpPr><p:spPr><a:xfrm><a:off x="6336792" y="6272784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Alan bilgisi, ürün tasarımı, yazılım, test, ölçüm, sunum ve demo hazırlığı birlikte yürütüldü.</a:t></a:r><a:endParaRPr lang="tr-TR" sz="1100"/></a:p></p:txBody></p:sp><p:sp><p:nvSpPr><p:cNvPr id="30" name="Text 30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31" name="Text 31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38</a:t></a:r><a:endParaRPr lang="tr-TR" sz="820"/></a:p></p:txBody></p:sp></p:spTree></p:cSld><p:clrMapOvr><a:masterClrMapping/></p:clrMapOvr></p:sld>
</file>

<file path=ppt/slides/slide39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Değerlendirmemizi istediğimiz çerçeve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N-KÖPRÜ’yü üç ayrı kanıt katmanıyla değerlendirmenizi istiyoruz.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1 · Problem uyumu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Tartışma akışında gerçekten kaybolan görüş, iddia, soru ve ortak zemin görünür hâle geliyor mu?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2 · Teknik güvenilirlik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Hibrit mimari, kalıcı veri, Yanıt Koçu doğrulama kapıları, test seti ve sınırlılıklar denetlenebilir mi?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3 · Sorumlu etki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Sistem kullanıcı adına karar vermeden, doğrulanmamış sonucu gerçek gibi sunmadan ve yapıcı bir sonraki adıma alan açıyor mu?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Son cümle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Tartışmayı kazanmak değil; konuşmayı daha anlaşılır, daha kanıtlı ve daha yapıcı hâle getirmek.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39</a:t></a:r><a:endParaRPr lang="tr-TR" sz="820"/></a:p></p:txBody></p:sp></p:spTree></p:cSld><p:clrMapOvr><a:masterClrMapping/></p:clrMapOvr></p:sld>
</file>

<file path=ppt/slides/slide40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Ek · veri sözlüğü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Analiz sonucunda hangi bilgiler taşınıyor?</a:t></a:r><a:endParaRPr lang="tr-TR" sz="1020"/></a:p></p:txBody></p:sp><p:sp><p:nvSpPr><p:cNvPr id="6" name="Shape 6"/><p:cNvSpPr/><p:nvPr/></p:nvSpPr><p:spPr><a:xfrm><a:off x="566928" y="1572768"/><a:ext cx="5532120" cy="555171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Text 7"/><p:cNvSpPr txBox="1"/><p:nvPr/></p:nvSpPr><p:spPr><a:xfrm><a:off x="603504" y="1600200"/><a:ext cx="5458968" cy="500307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Nesne</a:t></a:r><a:endParaRPr lang="tr-TR" sz="1000"/></a:p></p:txBody></p:sp><p:sp><p:nvSpPr><p:cNvPr id="8" name="Shape 8"/><p:cNvSpPr/><p:nvPr/></p:nvSpPr><p:spPr><a:xfrm><a:off x="6099048" y="1572768"/><a:ext cx="5532120" cy="555171"/></a:xfrm><a:prstGeom prst="roundRect"><a:avLst/></a:prstGeom><a:solidFill><a:srgbClr val="1D294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9" name="Text 9"/><p:cNvSpPr txBox="1"/><p:nvPr/></p:nvSpPr><p:spPr><a:xfrm><a:off x="6135624" y="1600200"/><a:ext cx="5458968" cy="500307"/></a:xfrm><a:prstGeom prst="rect"><a:avLst/></a:prstGeom><a:noFill/><a:ln><a:noFill/></a:ln></p:spPr><p:txBody><a:bodyPr wrap="square" anchor="t" lIns="0" rIns="0" tIns="0" bIns="0"/><a:lstStyle/><a:p><a:pPr/><a:r><a:rPr lang="tr-TR" sz="1000" b="1"><a:solidFill><a:srgbClr val="22D3EE"/></a:solidFill><a:latin typeface="Aptos"/><a:t>Tutulan temel alanlar</a:t></a:r><a:endParaRPr lang="tr-TR" sz="1000"/></a:p></p:txBody></p:sp><p:sp><p:nvSpPr><p:cNvPr id="10" name="Shape 10"/><p:cNvSpPr/><p:nvPr/></p:nvSpPr><p:spPr><a:xfrm><a:off x="566928" y="2127939"/><a:ext cx="5532120" cy="55517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Text 11"/><p:cNvSpPr txBox="1"/><p:nvPr/></p:nvSpPr><p:spPr><a:xfrm><a:off x="603504" y="2155371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Viewpoint</a:t></a:r><a:endParaRPr lang="tr-TR" sz="925"/></a:p></p:txBody></p:sp><p:sp><p:nvSpPr><p:cNvPr id="12" name="Shape 12"/><p:cNvSpPr/><p:nvPr/></p:nvSpPr><p:spPr><a:xfrm><a:off x="6099048" y="2127939"/><a:ext cx="5532120" cy="55517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3" name="Text 13"/><p:cNvSpPr txBox="1"/><p:nvPr/></p:nvSpPr><p:spPr><a:xfrm><a:off x="6135624" y="2155371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Sınıf, görünür ad, oran, özet, kanıt yorumları, temsilci yorum, temalar, karşıt görüş, ilişkili iddia/soru</a:t></a:r><a:endParaRPr lang="tr-TR" sz="925"/></a:p></p:txBody></p:sp><p:sp><p:nvSpPr><p:cNvPr id="14" name="Shape 14"/><p:cNvSpPr/><p:nvPr/></p:nvSpPr><p:spPr><a:xfrm><a:off x="566928" y="2683111"/><a:ext cx="5532120" cy="55517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Text 15"/><p:cNvSpPr txBox="1"/><p:nvPr/></p:nvSpPr><p:spPr><a:xfrm><a:off x="603504" y="2710543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StanceDetail</a:t></a:r><a:endParaRPr lang="tr-TR" sz="925"/></a:p></p:txBody></p:sp><p:sp><p:nvSpPr><p:cNvPr id="16" name="Shape 16"/><p:cNvSpPr/><p:nvPr/></p:nvSpPr><p:spPr><a:xfrm><a:off x="6099048" y="2683111"/><a:ext cx="5532120" cy="55517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7" name="Text 17"/><p:cNvSpPr txBox="1"/><p:nvPr/></p:nvSpPr><p:spPr><a:xfrm><a:off x="6135624" y="2710543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Yorum kimliği, sınıf, güven, kullanılan motor ve açıklama</a:t></a:r><a:endParaRPr lang="tr-TR" sz="925"/></a:p></p:txBody></p:sp><p:sp><p:nvSpPr><p:cNvPr id="18" name="Shape 18"/><p:cNvSpPr/><p:nvPr/></p:nvSpPr><p:spPr><a:xfrm><a:off x="566928" y="3238282"/><a:ext cx="5532120" cy="55517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Text 19"/><p:cNvSpPr txBox="1"/><p:nvPr/></p:nvSpPr><p:spPr><a:xfrm><a:off x="603504" y="3265714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ClaimItem</a:t></a:r><a:endParaRPr lang="tr-TR" sz="925"/></a:p></p:txBody></p:sp><p:sp><p:nvSpPr><p:cNvPr id="20" name="Shape 20"/><p:cNvSpPr/><p:nvPr/></p:nvSpPr><p:spPr><a:xfrm><a:off x="6099048" y="3238282"/><a:ext cx="5532120" cy="55517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1" name="Text 21"/><p:cNvSpPr txBox="1"/><p:nvPr/></p:nvSpPr><p:spPr><a:xfrm><a:off x="6135624" y="3265714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İddia metni, tür, öncelik, kaynak durumu, doğrulama ihtiyacı, güven, yorum kimliği</a:t></a:r><a:endParaRPr lang="tr-TR" sz="925"/></a:p></p:txBody></p:sp><p:sp><p:nvSpPr><p:cNvPr id="22" name="Shape 22"/><p:cNvSpPr/><p:nvPr/></p:nvSpPr><p:spPr><a:xfrm><a:off x="566928" y="3793454"/><a:ext cx="5532120" cy="55517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Text 23"/><p:cNvSpPr txBox="1"/><p:nvPr/></p:nvSpPr><p:spPr><a:xfrm><a:off x="603504" y="3820886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CommonGroundItem</a:t></a:r><a:endParaRPr lang="tr-TR" sz="925"/></a:p></p:txBody></p:sp><p:sp><p:nvSpPr><p:cNvPr id="24" name="Shape 24"/><p:cNvSpPr/><p:nvPr/></p:nvSpPr><p:spPr><a:xfrm><a:off x="6099048" y="3793454"/><a:ext cx="5532120" cy="55517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5" name="Text 25"/><p:cNvSpPr txBox="1"/><p:nvPr/></p:nvSpPr><p:spPr><a:xfrm><a:off x="6135624" y="3820886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Ortak tema, gerekçe, güven, destekleyen yorum kimlikleri</a:t></a:r><a:endParaRPr lang="tr-TR" sz="925"/></a:p></p:txBody></p:sp><p:sp><p:nvSpPr><p:cNvPr id="26" name="Shape 26"/><p:cNvSpPr/><p:nvPr/></p:nvSpPr><p:spPr><a:xfrm><a:off x="566928" y="4348625"/><a:ext cx="5532120" cy="55517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7" name="Text 27"/><p:cNvSpPr txBox="1"/><p:nvPr/></p:nvSpPr><p:spPr><a:xfrm><a:off x="603504" y="4376057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QuestionItem</a:t></a:r><a:endParaRPr lang="tr-TR" sz="925"/></a:p></p:txBody></p:sp><p:sp><p:nvSpPr><p:cNvPr id="28" name="Shape 28"/><p:cNvSpPr/><p:nvPr/></p:nvSpPr><p:spPr><a:xfrm><a:off x="6099048" y="4348625"/><a:ext cx="5532120" cy="555171"/></a:xfrm><a:prstGeom prst="rect"><a:avLst/></a:prstGeom><a:solidFill><a:srgbClr val="151D32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9" name="Text 29"/><p:cNvSpPr txBox="1"/><p:nvPr/></p:nvSpPr><p:spPr><a:xfrm><a:off x="6135624" y="4376057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Soru metni, tür, durum, öncelik, etkilenen görüşler, bağlı iddia ve cevap yorumları</a:t></a:r><a:endParaRPr lang="tr-TR" sz="925"/></a:p></p:txBody></p:sp><p:sp><p:nvSpPr><p:cNvPr id="30" name="Shape 30"/><p:cNvSpPr/><p:nvPr/></p:nvSpPr><p:spPr><a:xfrm><a:off x="566928" y="4903797"/><a:ext cx="5532120" cy="55517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1" name="Text 31"/><p:cNvSpPr txBox="1"/><p:nvPr/></p:nvSpPr><p:spPr><a:xfrm><a:off x="603504" y="4931229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Analysis snapshot</a:t></a:r><a:endParaRPr lang="tr-TR" sz="925"/></a:p></p:txBody></p:sp><p:sp><p:nvSpPr><p:cNvPr id="32" name="Shape 32"/><p:cNvSpPr/><p:nvPr/></p:nvSpPr><p:spPr><a:xfrm><a:off x="6099048" y="4903797"/><a:ext cx="5532120" cy="555171"/></a:xfrm><a:prstGeom prst="rect"><a:avLst/></a:prstGeom><a:solidFill><a:srgbClr val="11182A"/></a:solidFill><a:ln w="12700"><a:solidFill><a:srgbClr val="6B7895"/></a:solidFill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3" name="Text 33"/><p:cNvSpPr txBox="1"/><p:nvPr/></p:nvSpPr><p:spPr><a:xfrm><a:off x="6135624" y="4931229"/><a:ext cx="5458968" cy="500307"/></a:xfrm><a:prstGeom prst="rect"><a:avLst/></a:prstGeom><a:noFill/><a:ln><a:noFill/></a:ln></p:spPr><p:txBody><a:bodyPr wrap="square" anchor="t" lIns="0" rIns="0" tIns="0" bIns="0"/><a:lstStyle/><a:p><a:pPr/><a:r><a:rPr lang="tr-TR" sz="925"><a:solidFill><a:srgbClr val="F8FAFC"/></a:solidFill><a:latin typeface="Aptos"/><a:t>Tartışma kimliği, analiz JSON’u, değişiklikler ve zaman bilgisi</a:t></a:r><a:endParaRPr lang="tr-TR" sz="925"/></a:p></p:txBody></p:sp><p:sp><p:nvSpPr><p:cNvPr id="34" name="Text 34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35" name="Text 35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40</a:t></a:r><a:endParaRPr lang="tr-TR" sz="820"/></a:p></p:txBody></p:sp></p:spTree></p:cSld><p:clrMapOvr><a:masterClrMapping/></p:clrMapOvr></p:sld>
</file>

<file path=ppt/slides/slide41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Ek · kurulabilirlik ve tekrarlanabilirlik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Çalışan prototipin temel kurulum akışı.</a:t></a:r><a:endParaRPr lang="tr-TR" sz="1020"/></a:p></p:txBody></p:sp><p:sp><p:nvSpPr><p:cNvPr id="6" name="Shape 6"/><p:cNvSpPr/><p:nvPr/></p:nvSpPr><p:spPr><a:xfrm><a:off x="566928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Gereksinim</a:t></a:r><a:endParaRPr lang="tr-TR" sz="1170"/></a:p></p:txBody></p:sp><p:sp><p:nvSpPr><p:cNvPr id="9" name="Text 9"/><p:cNvSpPr txBox="1"/><p:nvPr/></p:nvSpPr><p:spPr><a:xfrm><a:off x="731520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Python 3.11 veya 3.12 · Node.js 20+ · Git. Belirli GPU zorunlu değil.</a:t></a:r><a:endParaRPr lang="tr-TR" sz="1060"/></a:p></p:txBody></p:sp><p:sp><p:nvSpPr><p:cNvPr id="10" name="Shape 10"/><p:cNvSpPr/><p:nvPr/></p:nvSpPr><p:spPr><a:xfrm><a:off x="4303776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4303776" y="1572768"/><a:ext cx="50292" cy="193852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4468368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34D399"/></a:solidFill><a:latin typeface="Aptos"/><a:t>Kaynak</a:t></a:r><a:endParaRPr lang="tr-TR" sz="1170"/></a:p></p:txBody></p:sp><p:sp><p:nvSpPr><p:cNvPr id="13" name="Text 13"/><p:cNvSpPr txBox="1"/><p:nvPr/></p:nvSpPr><p:spPr><a:xfrm><a:off x="4468368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git clone https://github.com/yfurkan/N-KOPRU.git</a:t></a:r><a:endParaRPr lang="tr-TR" sz="1060"/></a:p><a:p><a:pPr/><a:r><a:rPr lang="tr-TR" sz="1060"><a:solidFill><a:srgbClr val="F8FAFC"/></a:solidFill><a:latin typeface="Aptos"/><a:t>cd N-KOPRU</a:t></a:r><a:endParaRPr lang="tr-TR" sz="1060"/></a:p></p:txBody></p:sp><p:sp><p:nvSpPr><p:cNvPr id="14" name="Shape 14"/><p:cNvSpPr/><p:nvPr/></p:nvSpPr><p:spPr><a:xfrm><a:off x="8040624" y="1572768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8040624" y="1572768"/><a:ext cx="50292" cy="1938528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8205216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BF24"/></a:solidFill><a:latin typeface="Aptos"/><a:t>Backend</a:t></a:r><a:endParaRPr lang="tr-TR" sz="1170"/></a:p></p:txBody></p:sp><p:sp><p:nvSpPr><p:cNvPr id="17" name="Text 17"/><p:cNvSpPr txBox="1"/><p:nvPr/></p:nvSpPr><p:spPr><a:xfrm><a:off x="8205216" y="2029968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cd backend</a:t></a:r><a:endParaRPr lang="tr-TR" sz="1060"/></a:p><a:p><a:pPr/><a:r><a:rPr lang="tr-TR" sz="1060"><a:solidFill><a:srgbClr val="F8FAFC"/></a:solidFill><a:latin typeface="Aptos"/><a:t>py -3.12 -m venv .venv</a:t></a:r><a:endParaRPr lang="tr-TR" sz="1060"/></a:p><a:p><a:pPr/><a:r><a:rPr lang="tr-TR" sz="1060"><a:solidFill><a:srgbClr val="F8FAFC"/></a:solidFill><a:latin typeface="Aptos"/><a:t>.\\.venv\\Scripts\\Activate.ps1</a:t></a:r><a:endParaRPr lang="tr-TR" sz="1060"/></a:p><a:p><a:pPr/><a:r><a:rPr lang="tr-TR" sz="1060"><a:solidFill><a:srgbClr val="F8FAFC"/></a:solidFill><a:latin typeface="Aptos"/><a:t>pip install -r requirements.txt</a:t></a:r><a:endParaRPr lang="tr-TR" sz="1060"/></a:p><a:p><a:pPr/><a:r><a:rPr lang="tr-TR" sz="1060"><a:solidFill><a:srgbClr val="F8FAFC"/></a:solidFill><a:latin typeface="Aptos"/><a:t>uvicorn app.main:app --reload --port 8000</a:t></a:r><a:endParaRPr lang="tr-TR" sz="1060"/></a:p></p:txBody></p:sp><p:sp><p:nvSpPr><p:cNvPr id="18" name="Shape 18"/><p:cNvSpPr/><p:nvPr/></p:nvSpPr><p:spPr><a:xfrm><a:off x="566928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566928" y="3685032"/><a:ext cx="50292" cy="1938528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731520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FB7185"/></a:solidFill><a:latin typeface="Aptos"/><a:t>Frontend</a:t></a:r><a:endParaRPr lang="tr-TR" sz="1170"/></a:p></p:txBody></p:sp><p:sp><p:nvSpPr><p:cNvPr id="21" name="Text 21"/><p:cNvSpPr txBox="1"/><p:nvPr/></p:nvSpPr><p:spPr><a:xfrm><a:off x="731520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İkinci terminalde:</a:t></a:r><a:endParaRPr lang="tr-TR" sz="1060"/></a:p><a:p><a:pPr/><a:r><a:rPr lang="tr-TR" sz="1060"><a:solidFill><a:srgbClr val="F8FAFC"/></a:solidFill><a:latin typeface="Aptos"/><a:t>cd frontend</a:t></a:r><a:endParaRPr lang="tr-TR" sz="1060"/></a:p><a:p><a:pPr/><a:r><a:rPr lang="tr-TR" sz="1060"><a:solidFill><a:srgbClr val="F8FAFC"/></a:solidFill><a:latin typeface="Aptos"/><a:t>npm install</a:t></a:r><a:endParaRPr lang="tr-TR" sz="1060"/></a:p><a:p><a:pPr/><a:r><a:rPr lang="tr-TR" sz="1060"><a:solidFill><a:srgbClr val="F8FAFC"/></a:solidFill><a:latin typeface="Aptos"/><a:t>npm run dev</a:t></a:r><a:endParaRPr lang="tr-TR" sz="1060"/></a:p></p:txBody></p:sp><p:sp><p:nvSpPr><p:cNvPr id="22" name="Shape 22"/><p:cNvSpPr/><p:nvPr/></p:nvSpPr><p:spPr><a:xfrm><a:off x="4303776" y="3685032"/><a:ext cx="3590544" cy="1938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3" name="Shape 23"/><p:cNvSpPr/><p:nvPr/></p:nvSpPr><p:spPr><a:xfrm><a:off x="4303776" y="3685032"/><a:ext cx="50292" cy="1938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4" name="Text 24"/><p:cNvSpPr txBox="1"/><p:nvPr/></p:nvSpPr><p:spPr><a:xfrm><a:off x="4468368" y="3794760"/><a:ext cx="3316224" cy="274320"/></a:xfrm><a:prstGeom prst="rect"><a:avLst/></a:prstGeom><a:noFill/><a:ln><a:noFill/></a:ln></p:spPr><p:txBody><a:bodyPr wrap="square" anchor="t" lIns="0" rIns="0" tIns="0" bIns="0"/><a:lstStyle/><a:p><a:pPr/><a:r><a:rPr lang="tr-TR" sz="1170" b="1"><a:solidFill><a:srgbClr val="22D3EE"/></a:solidFill><a:latin typeface="Aptos"/><a:t>Adresler</a:t></a:r><a:endParaRPr lang="tr-TR" sz="1170"/></a:p></p:txBody></p:sp><p:sp><p:nvSpPr><p:cNvPr id="25" name="Text 25"/><p:cNvSpPr txBox="1"/><p:nvPr/></p:nvSpPr><p:spPr><a:xfrm><a:off x="4468368" y="4142232"/><a:ext cx="3316224" cy="1389888"/></a:xfrm><a:prstGeom prst="rect"><a:avLst/></a:prstGeom><a:noFill/><a:ln><a:noFill/></a:ln></p:spPr><p:txBody><a:bodyPr wrap="square" anchor="t" lIns="0" rIns="0" tIns="0" bIns="0"/><a:lstStyle/><a:p><a:pPr/><a:r><a:rPr lang="tr-TR" sz="1060"><a:solidFill><a:srgbClr val="F8FAFC"/></a:solidFill><a:latin typeface="Aptos"/><a:t>Uygulama: http://localhost:3000</a:t></a:r><a:endParaRPr lang="tr-TR" sz="1060"/></a:p><a:p><a:pPr/><a:r><a:rPr lang="tr-TR" sz="1060"><a:solidFill><a:srgbClr val="F8FAFC"/></a:solidFill><a:latin typeface="Aptos"/><a:t>Sağlık: http://127.0.0.1:8000/health</a:t></a:r><a:endParaRPr lang="tr-TR" sz="1060"/></a:p><a:p><a:pPr/><a:r><a:rPr lang="tr-TR" sz="1060"><a:solidFill><a:srgbClr val="F8FAFC"/></a:solidFill><a:latin typeface="Aptos"/><a:t>API dokümantasyonu: http://127.0.0.1:8000/docs</a:t></a:r><a:endParaRPr lang="tr-TR" sz="1060"/></a:p></p:txBody></p:sp><p:sp><p:nvSpPr><p:cNvPr id="26" name="Text 26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7" name="Text 27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41</a:t></a:r><a:endParaRPr lang="tr-TR" sz="820"/></a:p></p:txBody></p:sp></p:spTree></p:cSld><p:clrMapOvr><a:masterClrMapping/></p:clrMapOvr></p:sld>
</file>

<file path=ppt/slides/slide42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Ek · kanıt haritası ve teslim kaynakları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Sunumdaki her teknik iddianın karşılığı proje dosyalarında bulunuyor.</a:t></a:r><a:endParaRPr lang="tr-TR" sz="1020"/></a:p></p:txBody></p:sp><p:sp><p:nvSpPr><p:cNvPr id="6" name="Shape 6"/><p:cNvSpPr/><p:nvPr/></p:nvSpPr><p:spPr><a:xfrm><a:off x="566928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1920240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22D3EE"/></a:solidFill><a:latin typeface="Aptos"/><a:t>Kaynak kod</a:t></a:r><a:endParaRPr lang="tr-TR" sz="1200"/></a:p></p:txBody></p:sp><p:sp><p:nvSpPr><p:cNvPr id="9" name="Text 9"/><p:cNvSpPr txBox="1"/><p:nvPr/></p:nvSpPr><p:spPr><a:xfrm><a:off x="731520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backend/app: analiz, görüş, iddia, soru, Yanıt Koçu, geçmiş, bildirim ve API katmanları.</a:t></a:r><a:endParaRPr lang="tr-TR" sz="1100"/></a:p><a:p><a:pPr/><a:r><a:rPr lang="tr-TR" sz="1100"><a:solidFill><a:srgbClr val="F8FAFC"/></a:solidFill><a:latin typeface="Aptos"/><a:t>frontend/app: kullanıcı akışı, sekiz analiz sekmesi ve teknik doğrulama ekranı.</a:t></a:r><a:endParaRPr lang="tr-TR" sz="1100"/></a:p></p:txBody></p:sp><p:sp><p:nvSpPr><p:cNvPr id="10" name="Shape 10"/><p:cNvSpPr/><p:nvPr/></p:nvSpPr><p:spPr><a:xfrm><a:off x="6172200" y="1572768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6172200" y="1572768"/><a:ext cx="50292" cy="1920240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6336792" y="1682496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34D399"/></a:solidFill><a:latin typeface="Aptos"/><a:t>Teknik kanıt</a:t></a:r><a:endParaRPr lang="tr-TR" sz="1200"/></a:p></p:txBody></p:sp><p:sp><p:nvSpPr><p:cNvPr id="13" name="Text 13"/><p:cNvSpPr txBox="1"/><p:nvPr/></p:nvSpPr><p:spPr><a:xfrm><a:off x="6336792" y="2029968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docs/test-reports/V1_4_0_TEST_RAPORU.txt</a:t></a:r><a:endParaRPr lang="tr-TR" sz="1100"/></a:p><a:p><a:pPr/><a:r><a:rPr lang="tr-TR" sz="1100"><a:solidFill><a:srgbClr val="F8FAFC"/></a:solidFill><a:latin typeface="Aptos"/><a:t> docs/test-reports/V1_4_0_TEST_SONUCLARI.json</a:t></a:r><a:endParaRPr lang="tr-TR" sz="1100"/></a:p><a:p><a:pPr/><a:r><a:rPr lang="tr-TR" sz="1100"><a:solidFill><a:srgbClr val="F8FAFC"/></a:solidFill><a:latin typeface="Aptos"/><a:t> docs/test-reports/YANIT_KOCU_TEST_RAPORU.txt</a:t></a:r><a:endParaRPr lang="tr-TR" sz="1100"/></a:p><a:p><a:pPr/><a:r><a:rPr lang="tr-TR" sz="1100"><a:solidFill><a:srgbClr val="F8FAFC"/></a:solidFill><a:latin typeface="Aptos"/><a:t> docs/test-reports/YANIT_KOCU_BENCHMARK.json</a:t></a:r><a:endParaRPr lang="tr-TR" sz="1100"/></a:p></p:txBody></p:sp><p:sp><p:nvSpPr><p:cNvPr id="14" name="Shape 14"/><p:cNvSpPr/><p:nvPr/></p:nvSpPr><p:spPr><a:xfrm><a:off x="566928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566928" y="3694176"/><a:ext cx="50292" cy="1920240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731520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BF24"/></a:solidFill><a:latin typeface="Aptos"/><a:t>Teslim sürümü</a:t></a:r><a:endParaRPr lang="tr-TR" sz="1200"/></a:p></p:txBody></p:sp><p:sp><p:nvSpPr><p:cNvPr id="17" name="Text 17"/><p:cNvSpPr txBox="1"/><p:nvPr/></p:nvSpPr><p:spPr><a:xfrm><a:off x="731520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v1.4.0 · v1.4.0-teknofest-final sabit teslim dalı.</a:t></a:r><a:endParaRPr lang="tr-TR" sz="1100"/></a:p></p:txBody></p:sp><p:sp><p:nvSpPr><p:cNvPr id="18" name="Shape 18"/><p:cNvSpPr/><p:nvPr/></p:nvSpPr><p:spPr><a:xfrm><a:off x="6172200" y="3694176"/><a:ext cx="5458968" cy="1920240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9" name="Shape 19"/><p:cNvSpPr/><p:nvPr/></p:nvSpPr><p:spPr><a:xfrm><a:off x="6172200" y="3694176"/><a:ext cx="50292" cy="1920240"/></a:xfrm><a:prstGeom prst="roundRect"><a:avLst/></a:prstGeom><a:solidFill><a:srgbClr val="FB7185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0" name="Text 20"/><p:cNvSpPr txBox="1"/><p:nvPr/></p:nvSpPr><p:spPr><a:xfrm><a:off x="6336792" y="3803904"/><a:ext cx="5184648" cy="274320"/></a:xfrm><a:prstGeom prst="rect"><a:avLst/></a:prstGeom><a:noFill/><a:ln><a:noFill/></a:ln></p:spPr><p:txBody><a:bodyPr wrap="square" anchor="t" lIns="0" rIns="0" tIns="0" bIns="0"/><a:lstStyle/><a:p><a:pPr/><a:r><a:rPr lang="tr-TR" sz="1200" b="1"><a:solidFill><a:srgbClr val="FB7185"/></a:solidFill><a:latin typeface="Aptos"/><a:t>Sunum kaynağı</a:t></a:r><a:endParaRPr lang="tr-TR" sz="1200"/></a:p></p:txBody></p:sp><p:sp><p:nvSpPr><p:cNvPr id="21" name="Text 21"/><p:cNvSpPr txBox="1"/><p:nvPr/></p:nvSpPr><p:spPr><a:xfrm><a:off x="6336792" y="4151376"/><a:ext cx="5184648" cy="1371600"/></a:xfrm><a:prstGeom prst="rect"><a:avLst/></a:prstGeom><a:noFill/><a:ln><a:noFill/></a:ln></p:spPr><p:txBody><a:bodyPr wrap="square" anchor="t" lIns="0" rIns="0" tIns="0" bIns="0"/><a:lstStyle/><a:p><a:pPr/><a:r><a:rPr lang="tr-TR" sz="1100"><a:solidFill><a:srgbClr val="F8FAFC"/></a:solidFill><a:latin typeface="Aptos"/><a:t>Bu sunumun tam anlatım metni aynı dalda .md olarak tutulur; slayt metni bu metinden türetilmiştir.</a:t></a:r><a:endParaRPr lang="tr-TR" sz="1100"/></a:p></p:txBody></p:sp><p:sp><p:nvSpPr><p:cNvPr id="22" name="Text 22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23" name="Text 23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42</a:t></a:r><a:endParaRPr lang="tr-TR" sz="820"/></a:p></p:txBody></p:sp></p:spTree></p:cSld><p:clrMapOvr><a:masterClrMapping/></p:clrMapOvr></p:sld>
</file>

<file path=ppt/slides/slide43.xml>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1" name="Shape 1"/><p:cNvSpPr/><p:nvPr/></p:nvSpPr><p:spPr><a:xfrm><a:off x="0" y="0"/><a:ext cx="12191695" cy="6858000"/></a:xfrm><a:prstGeom prst="rect"><a:avLst/></a:prstGeom><a:solidFill><a:srgbClr val="0B1020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2" name="Shape 2"/><p:cNvSpPr/><p:nvPr/></p:nvSpPr><p:spPr><a:xfrm><a:off x="566928" y="274320"/><a:ext cx="502920" cy="50292"/></a:xfrm><a:prstGeom prst="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3" name="Text 3"/><p:cNvSpPr txBox="1"/><p:nvPr/></p:nvSpPr><p:spPr><a:xfrm><a:off x="1170432" y="173736"/><a:ext cx="7315200" cy="182880"/></a:xfrm><a:prstGeom prst="rect"><a:avLst/></a:prstGeom><a:noFill/><a:ln><a:noFill/></a:ln></p:spPr><p:txBody><a:bodyPr wrap="square" anchor="t" lIns="0" rIns="0" tIns="0" bIns="0"/><a:lstStyle/><a:p><a:pPr/><a:r><a:rPr lang="tr-TR" sz="830" b="1"><a:solidFill><a:srgbClr val="6B7895"/></a:solidFill><a:latin typeface="Aptos"/><a:t>N-KÖPRÜ / JÜRİ SUNUMU</a:t></a:r><a:endParaRPr lang="tr-TR" sz="830"/></a:p></p:txBody></p:sp><p:sp><p:nvSpPr><p:cNvPr id="4" name="Text 4"/><p:cNvSpPr txBox="1"/><p:nvPr/></p:nvSpPr><p:spPr><a:xfrm><a:off x="566928" y="548640"/><a:ext cx="11064240" cy="411480"/></a:xfrm><a:prstGeom prst="rect"><a:avLst/></a:prstGeom><a:noFill/><a:ln><a:noFill/></a:ln></p:spPr><p:txBody><a:bodyPr wrap="square" anchor="t" lIns="0" rIns="0" tIns="0" bIns="0"/><a:lstStyle/><a:p><a:pPr/><a:r><a:rPr lang="tr-TR" sz="2200" b="1"><a:solidFill><a:srgbClr val="F8FAFC"/></a:solidFill><a:latin typeface="Aptos"/><a:t>Teşekkürler</a:t></a:r><a:endParaRPr lang="tr-TR" sz="2200"/></a:p></p:txBody></p:sp><p:sp><p:nvSpPr><p:cNvPr id="5" name="Text 5"/><p:cNvSpPr txBox="1"/><p:nvPr/></p:nvSpPr><p:spPr><a:xfrm><a:off x="566928" y="1005840"/><a:ext cx="11064240" cy="274320"/></a:xfrm><a:prstGeom prst="rect"><a:avLst/></a:prstGeom><a:noFill/><a:ln><a:noFill/></a:ln></p:spPr><p:txBody><a:bodyPr wrap="square" anchor="t" lIns="0" rIns="0" tIns="0" bIns="0"/><a:lstStyle/><a:p><a:pPr/><a:r><a:rPr lang="tr-TR" sz="1020"><a:solidFill><a:srgbClr val="A7B0C4"/></a:solidFill><a:latin typeface="Aptos"/><a:t>Sorularınızı yanıtlamaya ve çalışan prototipi göstermeye hazırız.</a:t></a:r><a:endParaRPr lang="tr-TR" sz="1020"/></a:p></p:txBody></p:sp><p:sp><p:nvSpPr><p:cNvPr id="6" name="Shape 6"/><p:cNvSpPr/><p:nvPr/></p:nvSpPr><p:spPr><a:xfrm><a:off x="566928" y="1572768"/><a:ext cx="3590544" cy="4224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7" name="Shape 7"/><p:cNvSpPr/><p:nvPr/></p:nvSpPr><p:spPr><a:xfrm><a:off x="566928" y="1572768"/><a:ext cx="50292" cy="4224528"/></a:xfrm><a:prstGeom prst="roundRect"><a:avLst/></a:prstGeom><a:solidFill><a:srgbClr val="22D3EE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8" name="Text 8"/><p:cNvSpPr txBox="1"/><p:nvPr/></p:nvSpPr><p:spPr><a:xfrm><a:off x="731520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240" b="1"><a:solidFill><a:srgbClr val="22D3EE"/></a:solidFill><a:latin typeface="Aptos"/><a:t>N-KÖPRÜ</a:t></a:r><a:endParaRPr lang="tr-TR" sz="1240"/></a:p></p:txBody></p:sp><p:sp><p:nvSpPr><p:cNvPr id="9" name="Text 9"/><p:cNvSpPr txBox="1"/><p:nvPr/></p:nvSpPr><p:spPr><a:xfrm><a:off x="731520" y="2029968"/><a:ext cx="3316224" cy="3675888"/></a:xfrm><a:prstGeom prst="rect"><a:avLst/></a:prstGeom><a:noFill/><a:ln><a:noFill/></a:ln></p:spPr><p:txBody><a:bodyPr wrap="square" anchor="t" lIns="0" rIns="0" tIns="0" bIns="0"/><a:lstStyle/><a:p><a:pPr/><a:r><a:rPr lang="tr-TR" sz="1180"><a:solidFill><a:srgbClr val="F8FAFC"/></a:solidFill><a:latin typeface="Aptos"/><a:t>Yapay Zekâ Destekli Sosyal Tartışma Zekâsı Sistemi</a:t></a:r><a:endParaRPr lang="tr-TR" sz="1180"/></a:p></p:txBody></p:sp><p:sp><p:nvSpPr><p:cNvPr id="10" name="Shape 10"/><p:cNvSpPr/><p:nvPr/></p:nvSpPr><p:spPr><a:xfrm><a:off x="4303776" y="1572768"/><a:ext cx="3590544" cy="4224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1" name="Shape 11"/><p:cNvSpPr/><p:nvPr/></p:nvSpPr><p:spPr><a:xfrm><a:off x="4303776" y="1572768"/><a:ext cx="50292" cy="4224528"/></a:xfrm><a:prstGeom prst="roundRect"><a:avLst/></a:prstGeom><a:solidFill><a:srgbClr val="34D399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2" name="Text 12"/><p:cNvSpPr txBox="1"/><p:nvPr/></p:nvSpPr><p:spPr><a:xfrm><a:off x="4468368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240" b="1"><a:solidFill><a:srgbClr val="34D399"/></a:solidFill><a:latin typeface="Aptos"/><a:t>Mavi Fab.Lab.</a:t></a:r><a:endParaRPr lang="tr-TR" sz="1240"/></a:p></p:txBody></p:sp><p:sp><p:nvSpPr><p:cNvPr id="13" name="Text 13"/><p:cNvSpPr txBox="1"/><p:nvPr/></p:nvSpPr><p:spPr><a:xfrm><a:off x="4468368" y="2029968"/><a:ext cx="3316224" cy="3675888"/></a:xfrm><a:prstGeom prst="rect"><a:avLst/></a:prstGeom><a:noFill/><a:ln><a:noFill/></a:ln></p:spPr><p:txBody><a:bodyPr wrap="square" anchor="t" lIns="0" rIns="0" tIns="0" bIns="0"/><a:lstStyle/><a:p><a:pPr/><a:r><a:rPr lang="tr-TR" sz="1180"><a:solidFill><a:srgbClr val="F8FAFC"/></a:solidFill><a:latin typeface="Aptos"/><a:t>TEKNOFEST 2026 · N’Sosyal İnovasyon Yarışması Finalisti</a:t></a:r><a:endParaRPr lang="tr-TR" sz="1180"/></a:p></p:txBody></p:sp><p:sp><p:nvSpPr><p:cNvPr id="14" name="Shape 14"/><p:cNvSpPr/><p:nvPr/></p:nvSpPr><p:spPr><a:xfrm><a:off x="8040624" y="1572768"/><a:ext cx="3590544" cy="4224528"/></a:xfrm><a:prstGeom prst="roundRect"><a:avLst/></a:prstGeom><a:solidFill><a:srgbClr val="151D32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5" name="Shape 15"/><p:cNvSpPr/><p:nvPr/></p:nvSpPr><p:spPr><a:xfrm><a:off x="8040624" y="1572768"/><a:ext cx="50292" cy="4224528"/></a:xfrm><a:prstGeom prst="roundRect"><a:avLst/></a:prstGeom><a:solidFill><a:srgbClr val="FBBF24"/></a:solidFill><a:ln><a:noFill/></a:ln></p:spPr><p:txBody><a:bodyPr wrap="square" anchor="t" lIns="0" rIns="0" tIns="0" bIns="0"/><a:lstStyle/><a:p><a:pPr/><a:r><a:rPr lang="tr-TR" sz="100"><a:solidFill><a:srgbClr val="F8FAFC"/></a:solidFill><a:latin typeface="Aptos"/><a:t></a:t></a:r><a:endParaRPr lang="tr-TR" sz="100"/></a:p></p:txBody></p:sp><p:sp><p:nvSpPr><p:cNvPr id="16" name="Text 16"/><p:cNvSpPr txBox="1"/><p:nvPr/></p:nvSpPr><p:spPr><a:xfrm><a:off x="8205216" y="1682496"/><a:ext cx="3316224" cy="274320"/></a:xfrm><a:prstGeom prst="rect"><a:avLst/></a:prstGeom><a:noFill/><a:ln><a:noFill/></a:ln></p:spPr><p:txBody><a:bodyPr wrap="square" anchor="t" lIns="0" rIns="0" tIns="0" bIns="0"/><a:lstStyle/><a:p><a:pPr/><a:r><a:rPr lang="tr-TR" sz="1240" b="1"><a:solidFill><a:srgbClr val="FBBF24"/></a:solidFill><a:latin typeface="Aptos"/><a:t>Not</a:t></a:r><a:endParaRPr lang="tr-TR" sz="1240"/></a:p></p:txBody></p:sp><p:sp><p:nvSpPr><p:cNvPr id="17" name="Text 17"/><p:cNvSpPr txBox="1"/><p:nvPr/></p:nvSpPr><p:spPr><a:xfrm><a:off x="8205216" y="2029968"/><a:ext cx="3316224" cy="3675888"/></a:xfrm><a:prstGeom prst="rect"><a:avLst/></a:prstGeom><a:noFill/><a:ln><a:noFill/></a:ln></p:spPr><p:txBody><a:bodyPr wrap="square" anchor="t" lIns="0" rIns="0" tIns="0" bIns="0"/><a:lstStyle/><a:p><a:pPr/><a:r><a:rPr lang="tr-TR" sz="1180"><a:solidFill><a:srgbClr val="F8FAFC"/></a:solidFill><a:latin typeface="Aptos"/><a:t>Teknik rapor: 98/100 · v1.4.0 çalışan prototip · proje içi teknik doğrulama %92,5</a:t></a:r><a:endParaRPr lang="tr-TR" sz="1180"/></a:p></p:txBody></p:sp><p:sp><p:nvSpPr><p:cNvPr id="18" name="Text 18"/><p:cNvSpPr txBox="1"/><p:nvPr/></p:nvSpPr><p:spPr><a:xfrm><a:off x="566928" y="6519672"/><a:ext cx="9601200" cy="146304"/></a:xfrm><a:prstGeom prst="rect"><a:avLst/></a:prstGeom><a:noFill/><a:ln><a:noFill/></a:ln></p:spPr><p:txBody><a:bodyPr wrap="square" anchor="t" lIns="0" rIns="0" tIns="0" bIns="0"/><a:lstStyle/><a:p><a:pPr/><a:r><a:rPr lang="tr-TR" sz="820"><a:solidFill><a:srgbClr val="6B7895"/></a:solidFill><a:latin typeface="Aptos"/><a:t>N-KÖPRÜ  ·  Mavi Fab.Lab.  ·  TEKNOFEST 2026</a:t></a:r><a:endParaRPr lang="tr-TR" sz="820"/></a:p></p:txBody></p:sp><p:sp><p:nvSpPr><p:cNvPr id="19" name="Text 19"/><p:cNvSpPr txBox="1"/><p:nvPr/></p:nvSpPr><p:spPr><a:xfrm><a:off x="11018520" y="6519672"/><a:ext cx="603504" cy="146304"/></a:xfrm><a:prstGeom prst="rect"><a:avLst/></a:prstGeom><a:noFill/><a:ln><a:noFill/></a:ln></p:spPr><p:txBody><a:bodyPr wrap="square" anchor="t" lIns="0" rIns="0" tIns="0" bIns="0"/><a:lstStyle/><a:p><a:pPr algn="r"/><a:r><a:rPr lang="tr-TR" sz="820"><a:solidFill><a:srgbClr val="6B7895"/></a:solidFill><a:latin typeface="Aptos"/><a:t>43</a:t></a:r><a:endParaRPr lang="tr-TR" sz="820"/></a:p></p:txBody></p:sp></p:spTree></p:cSld><p:clrMapOvr><a:masterClrMapping/></p:clrMapOvr></p:sld>
</file>

<file path=ppt/theme/theme1.xml><?xml version="1.0" encoding="utf-8"?>
<a:theme xmlns:a="http://schemas.openxmlformats.org/drawingml/2006/main" name="N-KÖPRÜ">
  <a:themeElements>
    <a:clrScheme name="N-KÖPRÜ">
      <a:dk1>
        <a:sysClr val="windowText" lastClr="000000"/>
      </a:dk1>
      <a:lt1>
        <a:sysClr val="window" lastClr="FFFFFF"/>
      </a:lt1>
      <a:dk2>
        <a:srgbClr val="0B1020"/>
      </a:dk2>
      <a:lt2>
        <a:srgbClr val="F8FAFC"/>
      </a:lt2>
      <a:accent1>
        <a:srgbClr val="22D3EE"/>
      </a:accent1>
      <a:accent2>
        <a:srgbClr val="34D399"/>
      </a:accent2>
      <a:accent3>
        <a:srgbClr val="FBBF24"/>
      </a:accent3>
      <a:accent4>
        <a:srgbClr val="FB7185"/>
      </a:accent4>
      <a:accent5>
        <a:srgbClr val="6B7895"/>
      </a:accent5>
      <a:accent6>
        <a:srgbClr val="151D32"/>
      </a:accent6>
      <a:hlink>
        <a:srgbClr val="22D3EE"/>
      </a:hlink>
      <a:folHlink>
        <a:srgbClr val="FB7185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N-KÖPRÜ">
      <a:fillStyleLst>
        <a:solidFill>
          <a:srgbClr val="0B1020"/>
        </a:solidFill>
      </a:fillStyleLst>
      <a:lnStyleLst>
        <a:ln w="12700">
          <a:solidFill>
            <a:srgbClr val="6B7895"/>
          </a:solidFill>
        </a:ln>
      </a:lnStyleLst>
      <a:effectStyleLst/>
      <a:bgFillStyleLst>
        <a:solidFill>
          <a:srgbClr val="0B1020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43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N-KÖPRÜ — Jüri Teknik Sunumu V3</dc:title>
  <dc:creator>Mavi Fab.Lab.</dc:creator>
  <dc:description>TEKNOFEST 2026 N'Sosyal İnovasyon Yarışması jüri sunumu.</dc:description>
  <dcterms:created xsi:type="dcterms:W3CDTF">2026-09-14T00:00:00Z</dcterms:created>
</cp:coreProperties>
</file>